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2" r:id="rId6"/>
    <p:sldId id="260" r:id="rId7"/>
    <p:sldId id="261"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8" d="100"/>
          <a:sy n="78" d="100"/>
        </p:scale>
        <p:origin x="835"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AF3FD9-9D52-4AB8-98F5-0846F1924C38}"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300B07-BD6B-4075-9F6C-4E5DB3A37BAB}" type="slidenum">
              <a:rPr lang="en-US" smtClean="0"/>
              <a:t>‹#›</a:t>
            </a:fld>
            <a:endParaRPr lang="en-US"/>
          </a:p>
        </p:txBody>
      </p:sp>
    </p:spTree>
    <p:extLst>
      <p:ext uri="{BB962C8B-B14F-4D97-AF65-F5344CB8AC3E}">
        <p14:creationId xmlns:p14="http://schemas.microsoft.com/office/powerpoint/2010/main" val="3091310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DB78F-7E64-2530-49F2-17AB207A47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BFF40C8-B973-A5FC-F594-B359B6FAC8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DA3684-E7DF-9621-ACFF-C833C6DC6571}"/>
              </a:ext>
            </a:extLst>
          </p:cNvPr>
          <p:cNvSpPr>
            <a:spLocks noGrp="1"/>
          </p:cNvSpPr>
          <p:nvPr>
            <p:ph type="dt" sz="half" idx="10"/>
          </p:nvPr>
        </p:nvSpPr>
        <p:spPr/>
        <p:txBody>
          <a:bodyPr/>
          <a:lstStyle/>
          <a:p>
            <a:fld id="{A62F4590-6CF1-44AB-A618-43E38D8CE81E}" type="datetimeFigureOut">
              <a:rPr lang="en-IN" smtClean="0"/>
              <a:t>22-03-2026</a:t>
            </a:fld>
            <a:endParaRPr lang="en-IN"/>
          </a:p>
        </p:txBody>
      </p:sp>
      <p:sp>
        <p:nvSpPr>
          <p:cNvPr id="5" name="Footer Placeholder 4">
            <a:extLst>
              <a:ext uri="{FF2B5EF4-FFF2-40B4-BE49-F238E27FC236}">
                <a16:creationId xmlns:a16="http://schemas.microsoft.com/office/drawing/2014/main" id="{A140C1D7-FB55-0103-7CE1-F9C4A0F4FD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283DBE-F0AB-0A5F-697B-85194EE3D53C}"/>
              </a:ext>
            </a:extLst>
          </p:cNvPr>
          <p:cNvSpPr>
            <a:spLocks noGrp="1"/>
          </p:cNvSpPr>
          <p:nvPr>
            <p:ph type="sldNum" sz="quarter" idx="12"/>
          </p:nvPr>
        </p:nvSpPr>
        <p:spPr/>
        <p:txBody>
          <a:bodyPr/>
          <a:lstStyle/>
          <a:p>
            <a:fld id="{559F7207-EB19-4894-A3BE-9E4E729432A3}" type="slidenum">
              <a:rPr lang="en-IN" smtClean="0"/>
              <a:t>‹#›</a:t>
            </a:fld>
            <a:endParaRPr lang="en-IN"/>
          </a:p>
        </p:txBody>
      </p:sp>
    </p:spTree>
    <p:extLst>
      <p:ext uri="{BB962C8B-B14F-4D97-AF65-F5344CB8AC3E}">
        <p14:creationId xmlns:p14="http://schemas.microsoft.com/office/powerpoint/2010/main" val="1391389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9D275-8852-1655-3A56-09C219C0B6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88CBEF-AF6E-9D7E-0823-BA780D8152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9608F8-06A0-4CF2-9CD6-69D9CCD2F4E2}"/>
              </a:ext>
            </a:extLst>
          </p:cNvPr>
          <p:cNvSpPr>
            <a:spLocks noGrp="1"/>
          </p:cNvSpPr>
          <p:nvPr>
            <p:ph type="dt" sz="half" idx="10"/>
          </p:nvPr>
        </p:nvSpPr>
        <p:spPr/>
        <p:txBody>
          <a:bodyPr/>
          <a:lstStyle/>
          <a:p>
            <a:fld id="{A62F4590-6CF1-44AB-A618-43E38D8CE81E}" type="datetimeFigureOut">
              <a:rPr lang="en-IN" smtClean="0"/>
              <a:t>22-03-2026</a:t>
            </a:fld>
            <a:endParaRPr lang="en-IN"/>
          </a:p>
        </p:txBody>
      </p:sp>
      <p:sp>
        <p:nvSpPr>
          <p:cNvPr id="5" name="Footer Placeholder 4">
            <a:extLst>
              <a:ext uri="{FF2B5EF4-FFF2-40B4-BE49-F238E27FC236}">
                <a16:creationId xmlns:a16="http://schemas.microsoft.com/office/drawing/2014/main" id="{638D55E2-6CEB-758F-AE73-B149E53AB6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6C1732-DB53-2D11-486E-EEBD499A03F6}"/>
              </a:ext>
            </a:extLst>
          </p:cNvPr>
          <p:cNvSpPr>
            <a:spLocks noGrp="1"/>
          </p:cNvSpPr>
          <p:nvPr>
            <p:ph type="sldNum" sz="quarter" idx="12"/>
          </p:nvPr>
        </p:nvSpPr>
        <p:spPr/>
        <p:txBody>
          <a:bodyPr/>
          <a:lstStyle/>
          <a:p>
            <a:fld id="{559F7207-EB19-4894-A3BE-9E4E729432A3}" type="slidenum">
              <a:rPr lang="en-IN" smtClean="0"/>
              <a:t>‹#›</a:t>
            </a:fld>
            <a:endParaRPr lang="en-IN"/>
          </a:p>
        </p:txBody>
      </p:sp>
      <p:pic>
        <p:nvPicPr>
          <p:cNvPr id="8" name="Picture 7">
            <a:extLst>
              <a:ext uri="{FF2B5EF4-FFF2-40B4-BE49-F238E27FC236}">
                <a16:creationId xmlns:a16="http://schemas.microsoft.com/office/drawing/2014/main" id="{380B2D91-5211-34C9-ED16-0D6265495745}"/>
              </a:ext>
            </a:extLst>
          </p:cNvPr>
          <p:cNvPicPr>
            <a:picLocks noChangeAspect="1"/>
          </p:cNvPicPr>
          <p:nvPr userDrawn="1"/>
        </p:nvPicPr>
        <p:blipFill>
          <a:blip r:embed="rId2">
            <a:alphaModFix amt="8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2553037" y="1542847"/>
            <a:ext cx="7085926" cy="3772306"/>
          </a:xfrm>
          <a:prstGeom prst="rect">
            <a:avLst/>
          </a:prstGeom>
        </p:spPr>
      </p:pic>
    </p:spTree>
    <p:extLst>
      <p:ext uri="{BB962C8B-B14F-4D97-AF65-F5344CB8AC3E}">
        <p14:creationId xmlns:p14="http://schemas.microsoft.com/office/powerpoint/2010/main" val="3397196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4E60E-BF99-C58B-B91F-37D52321FA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6CDA42-C0B5-A621-3E65-8F47C04C27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CB0449-12A7-47C1-35E8-40964B6967A7}"/>
              </a:ext>
            </a:extLst>
          </p:cNvPr>
          <p:cNvSpPr>
            <a:spLocks noGrp="1"/>
          </p:cNvSpPr>
          <p:nvPr>
            <p:ph type="dt" sz="half" idx="10"/>
          </p:nvPr>
        </p:nvSpPr>
        <p:spPr/>
        <p:txBody>
          <a:bodyPr/>
          <a:lstStyle/>
          <a:p>
            <a:fld id="{A62F4590-6CF1-44AB-A618-43E38D8CE81E}" type="datetimeFigureOut">
              <a:rPr lang="en-IN" smtClean="0"/>
              <a:t>22-03-2026</a:t>
            </a:fld>
            <a:endParaRPr lang="en-IN"/>
          </a:p>
        </p:txBody>
      </p:sp>
      <p:sp>
        <p:nvSpPr>
          <p:cNvPr id="5" name="Footer Placeholder 4">
            <a:extLst>
              <a:ext uri="{FF2B5EF4-FFF2-40B4-BE49-F238E27FC236}">
                <a16:creationId xmlns:a16="http://schemas.microsoft.com/office/drawing/2014/main" id="{1FCEAF60-91D5-31D2-D34C-1726FE5AB4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8B0D79-0F69-D25D-D75D-9DB213CC96AE}"/>
              </a:ext>
            </a:extLst>
          </p:cNvPr>
          <p:cNvSpPr>
            <a:spLocks noGrp="1"/>
          </p:cNvSpPr>
          <p:nvPr>
            <p:ph type="sldNum" sz="quarter" idx="12"/>
          </p:nvPr>
        </p:nvSpPr>
        <p:spPr/>
        <p:txBody>
          <a:bodyPr/>
          <a:lstStyle/>
          <a:p>
            <a:fld id="{559F7207-EB19-4894-A3BE-9E4E729432A3}" type="slidenum">
              <a:rPr lang="en-IN" smtClean="0"/>
              <a:t>‹#›</a:t>
            </a:fld>
            <a:endParaRPr lang="en-IN"/>
          </a:p>
        </p:txBody>
      </p:sp>
    </p:spTree>
    <p:extLst>
      <p:ext uri="{BB962C8B-B14F-4D97-AF65-F5344CB8AC3E}">
        <p14:creationId xmlns:p14="http://schemas.microsoft.com/office/powerpoint/2010/main" val="541072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9DE59-EEB8-090D-F34A-0EC412E84E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2F3557-1507-C267-1BA0-C23743E968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CC972C-A9FA-5E45-7D56-83A220A474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D2A7BB-8983-5CED-EB7C-7571CF9D166C}"/>
              </a:ext>
            </a:extLst>
          </p:cNvPr>
          <p:cNvSpPr>
            <a:spLocks noGrp="1"/>
          </p:cNvSpPr>
          <p:nvPr>
            <p:ph type="dt" sz="half" idx="10"/>
          </p:nvPr>
        </p:nvSpPr>
        <p:spPr/>
        <p:txBody>
          <a:bodyPr/>
          <a:lstStyle/>
          <a:p>
            <a:fld id="{A62F4590-6CF1-44AB-A618-43E38D8CE81E}" type="datetimeFigureOut">
              <a:rPr lang="en-IN" smtClean="0"/>
              <a:t>22-03-2026</a:t>
            </a:fld>
            <a:endParaRPr lang="en-IN"/>
          </a:p>
        </p:txBody>
      </p:sp>
      <p:sp>
        <p:nvSpPr>
          <p:cNvPr id="6" name="Footer Placeholder 5">
            <a:extLst>
              <a:ext uri="{FF2B5EF4-FFF2-40B4-BE49-F238E27FC236}">
                <a16:creationId xmlns:a16="http://schemas.microsoft.com/office/drawing/2014/main" id="{885E9640-5587-CCC9-D177-02153A215D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EF1ADF-2DE3-4EBF-CCC9-2553799A0C6A}"/>
              </a:ext>
            </a:extLst>
          </p:cNvPr>
          <p:cNvSpPr>
            <a:spLocks noGrp="1"/>
          </p:cNvSpPr>
          <p:nvPr>
            <p:ph type="sldNum" sz="quarter" idx="12"/>
          </p:nvPr>
        </p:nvSpPr>
        <p:spPr/>
        <p:txBody>
          <a:bodyPr/>
          <a:lstStyle/>
          <a:p>
            <a:fld id="{559F7207-EB19-4894-A3BE-9E4E729432A3}" type="slidenum">
              <a:rPr lang="en-IN" smtClean="0"/>
              <a:t>‹#›</a:t>
            </a:fld>
            <a:endParaRPr lang="en-IN"/>
          </a:p>
        </p:txBody>
      </p:sp>
    </p:spTree>
    <p:extLst>
      <p:ext uri="{BB962C8B-B14F-4D97-AF65-F5344CB8AC3E}">
        <p14:creationId xmlns:p14="http://schemas.microsoft.com/office/powerpoint/2010/main" val="388371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8AE8B-EA9A-8DFE-31E8-E054F79B9F0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29C2AE-2CDA-A516-C48D-EB425F3C82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790A2F-909B-9A70-7D31-B349BD0272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43BA59E-AE0C-3997-2EAF-0C78249FC1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068DE6-58B1-5F41-2F6C-7C97DFF527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E37AF4B-D8D8-63EC-75C9-57C6F30A33C1}"/>
              </a:ext>
            </a:extLst>
          </p:cNvPr>
          <p:cNvSpPr>
            <a:spLocks noGrp="1"/>
          </p:cNvSpPr>
          <p:nvPr>
            <p:ph type="dt" sz="half" idx="10"/>
          </p:nvPr>
        </p:nvSpPr>
        <p:spPr/>
        <p:txBody>
          <a:bodyPr/>
          <a:lstStyle/>
          <a:p>
            <a:fld id="{A62F4590-6CF1-44AB-A618-43E38D8CE81E}" type="datetimeFigureOut">
              <a:rPr lang="en-IN" smtClean="0"/>
              <a:t>22-03-2026</a:t>
            </a:fld>
            <a:endParaRPr lang="en-IN"/>
          </a:p>
        </p:txBody>
      </p:sp>
      <p:sp>
        <p:nvSpPr>
          <p:cNvPr id="8" name="Footer Placeholder 7">
            <a:extLst>
              <a:ext uri="{FF2B5EF4-FFF2-40B4-BE49-F238E27FC236}">
                <a16:creationId xmlns:a16="http://schemas.microsoft.com/office/drawing/2014/main" id="{80C9B73E-780C-4B1C-4F59-C7425CB3819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5A09D42-63D0-3B68-A6C4-E9B8A725A3FE}"/>
              </a:ext>
            </a:extLst>
          </p:cNvPr>
          <p:cNvSpPr>
            <a:spLocks noGrp="1"/>
          </p:cNvSpPr>
          <p:nvPr>
            <p:ph type="sldNum" sz="quarter" idx="12"/>
          </p:nvPr>
        </p:nvSpPr>
        <p:spPr/>
        <p:txBody>
          <a:bodyPr/>
          <a:lstStyle/>
          <a:p>
            <a:fld id="{559F7207-EB19-4894-A3BE-9E4E729432A3}" type="slidenum">
              <a:rPr lang="en-IN" smtClean="0"/>
              <a:t>‹#›</a:t>
            </a:fld>
            <a:endParaRPr lang="en-IN"/>
          </a:p>
        </p:txBody>
      </p:sp>
    </p:spTree>
    <p:extLst>
      <p:ext uri="{BB962C8B-B14F-4D97-AF65-F5344CB8AC3E}">
        <p14:creationId xmlns:p14="http://schemas.microsoft.com/office/powerpoint/2010/main" val="3416264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8BF0C-2889-E9BF-4ED1-0B4E0AE6A9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9EF2E09-80A6-D52A-12A6-979B56FEF651}"/>
              </a:ext>
            </a:extLst>
          </p:cNvPr>
          <p:cNvSpPr>
            <a:spLocks noGrp="1"/>
          </p:cNvSpPr>
          <p:nvPr>
            <p:ph type="dt" sz="half" idx="10"/>
          </p:nvPr>
        </p:nvSpPr>
        <p:spPr/>
        <p:txBody>
          <a:bodyPr/>
          <a:lstStyle/>
          <a:p>
            <a:fld id="{A62F4590-6CF1-44AB-A618-43E38D8CE81E}" type="datetimeFigureOut">
              <a:rPr lang="en-IN" smtClean="0"/>
              <a:t>22-03-2026</a:t>
            </a:fld>
            <a:endParaRPr lang="en-IN"/>
          </a:p>
        </p:txBody>
      </p:sp>
      <p:sp>
        <p:nvSpPr>
          <p:cNvPr id="4" name="Footer Placeholder 3">
            <a:extLst>
              <a:ext uri="{FF2B5EF4-FFF2-40B4-BE49-F238E27FC236}">
                <a16:creationId xmlns:a16="http://schemas.microsoft.com/office/drawing/2014/main" id="{70C4222B-463B-F363-F43E-DB771191F3D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F945FF9-DE59-632F-6A9E-4D37331D13EF}"/>
              </a:ext>
            </a:extLst>
          </p:cNvPr>
          <p:cNvSpPr>
            <a:spLocks noGrp="1"/>
          </p:cNvSpPr>
          <p:nvPr>
            <p:ph type="sldNum" sz="quarter" idx="12"/>
          </p:nvPr>
        </p:nvSpPr>
        <p:spPr/>
        <p:txBody>
          <a:bodyPr/>
          <a:lstStyle/>
          <a:p>
            <a:fld id="{559F7207-EB19-4894-A3BE-9E4E729432A3}" type="slidenum">
              <a:rPr lang="en-IN" smtClean="0"/>
              <a:t>‹#›</a:t>
            </a:fld>
            <a:endParaRPr lang="en-IN"/>
          </a:p>
        </p:txBody>
      </p:sp>
    </p:spTree>
    <p:extLst>
      <p:ext uri="{BB962C8B-B14F-4D97-AF65-F5344CB8AC3E}">
        <p14:creationId xmlns:p14="http://schemas.microsoft.com/office/powerpoint/2010/main" val="4255008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BE01B2-8E24-1AF6-8D50-A6F8C5ABF8E8}"/>
              </a:ext>
            </a:extLst>
          </p:cNvPr>
          <p:cNvSpPr>
            <a:spLocks noGrp="1"/>
          </p:cNvSpPr>
          <p:nvPr>
            <p:ph type="dt" sz="half" idx="10"/>
          </p:nvPr>
        </p:nvSpPr>
        <p:spPr/>
        <p:txBody>
          <a:bodyPr/>
          <a:lstStyle/>
          <a:p>
            <a:fld id="{A62F4590-6CF1-44AB-A618-43E38D8CE81E}" type="datetimeFigureOut">
              <a:rPr lang="en-IN" smtClean="0"/>
              <a:t>22-03-2026</a:t>
            </a:fld>
            <a:endParaRPr lang="en-IN"/>
          </a:p>
        </p:txBody>
      </p:sp>
      <p:sp>
        <p:nvSpPr>
          <p:cNvPr id="3" name="Footer Placeholder 2">
            <a:extLst>
              <a:ext uri="{FF2B5EF4-FFF2-40B4-BE49-F238E27FC236}">
                <a16:creationId xmlns:a16="http://schemas.microsoft.com/office/drawing/2014/main" id="{B15D5CD4-6F05-0225-5432-8A8E8EF20C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01F22C-2B6D-5EC2-5A88-87A0EC3A7A1A}"/>
              </a:ext>
            </a:extLst>
          </p:cNvPr>
          <p:cNvSpPr>
            <a:spLocks noGrp="1"/>
          </p:cNvSpPr>
          <p:nvPr>
            <p:ph type="sldNum" sz="quarter" idx="12"/>
          </p:nvPr>
        </p:nvSpPr>
        <p:spPr/>
        <p:txBody>
          <a:bodyPr/>
          <a:lstStyle/>
          <a:p>
            <a:fld id="{559F7207-EB19-4894-A3BE-9E4E729432A3}" type="slidenum">
              <a:rPr lang="en-IN" smtClean="0"/>
              <a:t>‹#›</a:t>
            </a:fld>
            <a:endParaRPr lang="en-IN"/>
          </a:p>
        </p:txBody>
      </p:sp>
    </p:spTree>
    <p:extLst>
      <p:ext uri="{BB962C8B-B14F-4D97-AF65-F5344CB8AC3E}">
        <p14:creationId xmlns:p14="http://schemas.microsoft.com/office/powerpoint/2010/main" val="3249769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DC987-13FA-8E25-EA54-F7C75D3679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95E61FE-8ED1-28AB-248A-658030DDBF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B46BFBA-0B6F-0237-2D1B-45A0D5DBCE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3E5C58-12AD-F604-704A-AC24FCFC97B0}"/>
              </a:ext>
            </a:extLst>
          </p:cNvPr>
          <p:cNvSpPr>
            <a:spLocks noGrp="1"/>
          </p:cNvSpPr>
          <p:nvPr>
            <p:ph type="dt" sz="half" idx="10"/>
          </p:nvPr>
        </p:nvSpPr>
        <p:spPr/>
        <p:txBody>
          <a:bodyPr/>
          <a:lstStyle/>
          <a:p>
            <a:fld id="{A62F4590-6CF1-44AB-A618-43E38D8CE81E}" type="datetimeFigureOut">
              <a:rPr lang="en-IN" smtClean="0"/>
              <a:t>22-03-2026</a:t>
            </a:fld>
            <a:endParaRPr lang="en-IN"/>
          </a:p>
        </p:txBody>
      </p:sp>
      <p:sp>
        <p:nvSpPr>
          <p:cNvPr id="6" name="Footer Placeholder 5">
            <a:extLst>
              <a:ext uri="{FF2B5EF4-FFF2-40B4-BE49-F238E27FC236}">
                <a16:creationId xmlns:a16="http://schemas.microsoft.com/office/drawing/2014/main" id="{26D0D076-F134-F7D1-036B-07CEA6FF39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EB4FA6-0B51-2798-F398-5492ECFC0145}"/>
              </a:ext>
            </a:extLst>
          </p:cNvPr>
          <p:cNvSpPr>
            <a:spLocks noGrp="1"/>
          </p:cNvSpPr>
          <p:nvPr>
            <p:ph type="sldNum" sz="quarter" idx="12"/>
          </p:nvPr>
        </p:nvSpPr>
        <p:spPr/>
        <p:txBody>
          <a:bodyPr/>
          <a:lstStyle/>
          <a:p>
            <a:fld id="{559F7207-EB19-4894-A3BE-9E4E729432A3}" type="slidenum">
              <a:rPr lang="en-IN" smtClean="0"/>
              <a:t>‹#›</a:t>
            </a:fld>
            <a:endParaRPr lang="en-IN"/>
          </a:p>
        </p:txBody>
      </p:sp>
    </p:spTree>
    <p:extLst>
      <p:ext uri="{BB962C8B-B14F-4D97-AF65-F5344CB8AC3E}">
        <p14:creationId xmlns:p14="http://schemas.microsoft.com/office/powerpoint/2010/main" val="64192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F0186-E99C-95E4-447E-115AC1FA5B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6B9948-7A3C-A3C6-3EB0-45502B5A82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AA626AF-FEDF-6285-73A6-BF669844DD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818DAE-4BD1-652F-73FB-5D2DD8AAB84A}"/>
              </a:ext>
            </a:extLst>
          </p:cNvPr>
          <p:cNvSpPr>
            <a:spLocks noGrp="1"/>
          </p:cNvSpPr>
          <p:nvPr>
            <p:ph type="dt" sz="half" idx="10"/>
          </p:nvPr>
        </p:nvSpPr>
        <p:spPr/>
        <p:txBody>
          <a:bodyPr/>
          <a:lstStyle/>
          <a:p>
            <a:fld id="{A62F4590-6CF1-44AB-A618-43E38D8CE81E}" type="datetimeFigureOut">
              <a:rPr lang="en-IN" smtClean="0"/>
              <a:t>22-03-2026</a:t>
            </a:fld>
            <a:endParaRPr lang="en-IN"/>
          </a:p>
        </p:txBody>
      </p:sp>
      <p:sp>
        <p:nvSpPr>
          <p:cNvPr id="6" name="Footer Placeholder 5">
            <a:extLst>
              <a:ext uri="{FF2B5EF4-FFF2-40B4-BE49-F238E27FC236}">
                <a16:creationId xmlns:a16="http://schemas.microsoft.com/office/drawing/2014/main" id="{CE4495A2-0AA7-D027-401E-4F7B3B9D75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7F3E77-ED14-43A5-4107-C63B129026DB}"/>
              </a:ext>
            </a:extLst>
          </p:cNvPr>
          <p:cNvSpPr>
            <a:spLocks noGrp="1"/>
          </p:cNvSpPr>
          <p:nvPr>
            <p:ph type="sldNum" sz="quarter" idx="12"/>
          </p:nvPr>
        </p:nvSpPr>
        <p:spPr/>
        <p:txBody>
          <a:bodyPr/>
          <a:lstStyle/>
          <a:p>
            <a:fld id="{559F7207-EB19-4894-A3BE-9E4E729432A3}" type="slidenum">
              <a:rPr lang="en-IN" smtClean="0"/>
              <a:t>‹#›</a:t>
            </a:fld>
            <a:endParaRPr lang="en-IN"/>
          </a:p>
        </p:txBody>
      </p:sp>
    </p:spTree>
    <p:extLst>
      <p:ext uri="{BB962C8B-B14F-4D97-AF65-F5344CB8AC3E}">
        <p14:creationId xmlns:p14="http://schemas.microsoft.com/office/powerpoint/2010/main" val="2125535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9F17E-F793-F28A-4328-0EB552E949D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6888C1-D0AA-EB2B-BAEE-42FBE5786A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3C13DC-4971-0CA4-57E1-5D59B8D9654E}"/>
              </a:ext>
            </a:extLst>
          </p:cNvPr>
          <p:cNvSpPr>
            <a:spLocks noGrp="1"/>
          </p:cNvSpPr>
          <p:nvPr>
            <p:ph type="dt" sz="half" idx="10"/>
          </p:nvPr>
        </p:nvSpPr>
        <p:spPr/>
        <p:txBody>
          <a:bodyPr/>
          <a:lstStyle/>
          <a:p>
            <a:fld id="{A62F4590-6CF1-44AB-A618-43E38D8CE81E}" type="datetimeFigureOut">
              <a:rPr lang="en-IN" smtClean="0"/>
              <a:t>22-03-2026</a:t>
            </a:fld>
            <a:endParaRPr lang="en-IN"/>
          </a:p>
        </p:txBody>
      </p:sp>
      <p:sp>
        <p:nvSpPr>
          <p:cNvPr id="5" name="Footer Placeholder 4">
            <a:extLst>
              <a:ext uri="{FF2B5EF4-FFF2-40B4-BE49-F238E27FC236}">
                <a16:creationId xmlns:a16="http://schemas.microsoft.com/office/drawing/2014/main" id="{7146A8D0-8941-E9CE-9839-75034393FD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B122DB-24E2-F2A5-EF65-860E72135716}"/>
              </a:ext>
            </a:extLst>
          </p:cNvPr>
          <p:cNvSpPr>
            <a:spLocks noGrp="1"/>
          </p:cNvSpPr>
          <p:nvPr>
            <p:ph type="sldNum" sz="quarter" idx="12"/>
          </p:nvPr>
        </p:nvSpPr>
        <p:spPr/>
        <p:txBody>
          <a:bodyPr/>
          <a:lstStyle/>
          <a:p>
            <a:fld id="{559F7207-EB19-4894-A3BE-9E4E729432A3}" type="slidenum">
              <a:rPr lang="en-IN" smtClean="0"/>
              <a:t>‹#›</a:t>
            </a:fld>
            <a:endParaRPr lang="en-IN"/>
          </a:p>
        </p:txBody>
      </p:sp>
    </p:spTree>
    <p:extLst>
      <p:ext uri="{BB962C8B-B14F-4D97-AF65-F5344CB8AC3E}">
        <p14:creationId xmlns:p14="http://schemas.microsoft.com/office/powerpoint/2010/main" val="3386056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EE28C0-E4E2-3A50-075E-4227B109FA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3CF709-32F5-C32B-BE55-6105408F8C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94B67C-4093-3A64-3475-B7598A75313D}"/>
              </a:ext>
            </a:extLst>
          </p:cNvPr>
          <p:cNvSpPr>
            <a:spLocks noGrp="1"/>
          </p:cNvSpPr>
          <p:nvPr>
            <p:ph type="dt" sz="half" idx="10"/>
          </p:nvPr>
        </p:nvSpPr>
        <p:spPr/>
        <p:txBody>
          <a:bodyPr/>
          <a:lstStyle/>
          <a:p>
            <a:fld id="{A62F4590-6CF1-44AB-A618-43E38D8CE81E}" type="datetimeFigureOut">
              <a:rPr lang="en-IN" smtClean="0"/>
              <a:t>22-03-2026</a:t>
            </a:fld>
            <a:endParaRPr lang="en-IN"/>
          </a:p>
        </p:txBody>
      </p:sp>
      <p:sp>
        <p:nvSpPr>
          <p:cNvPr id="5" name="Footer Placeholder 4">
            <a:extLst>
              <a:ext uri="{FF2B5EF4-FFF2-40B4-BE49-F238E27FC236}">
                <a16:creationId xmlns:a16="http://schemas.microsoft.com/office/drawing/2014/main" id="{52ED00E2-97EA-BC65-0ED6-50FBC639AA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D536C8-A646-89AE-BA6B-9D39E6EDD5D0}"/>
              </a:ext>
            </a:extLst>
          </p:cNvPr>
          <p:cNvSpPr>
            <a:spLocks noGrp="1"/>
          </p:cNvSpPr>
          <p:nvPr>
            <p:ph type="sldNum" sz="quarter" idx="12"/>
          </p:nvPr>
        </p:nvSpPr>
        <p:spPr/>
        <p:txBody>
          <a:bodyPr/>
          <a:lstStyle/>
          <a:p>
            <a:fld id="{559F7207-EB19-4894-A3BE-9E4E729432A3}" type="slidenum">
              <a:rPr lang="en-IN" smtClean="0"/>
              <a:t>‹#›</a:t>
            </a:fld>
            <a:endParaRPr lang="en-IN"/>
          </a:p>
        </p:txBody>
      </p:sp>
    </p:spTree>
    <p:extLst>
      <p:ext uri="{BB962C8B-B14F-4D97-AF65-F5344CB8AC3E}">
        <p14:creationId xmlns:p14="http://schemas.microsoft.com/office/powerpoint/2010/main" val="512013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49EB43-F3DC-0F88-88DA-37CB6CCBD7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C8D261A3-890E-5E4E-4630-AF59A21548BE}"/>
              </a:ext>
            </a:extLst>
          </p:cNvPr>
          <p:cNvSpPr>
            <a:spLocks noGrp="1"/>
          </p:cNvSpPr>
          <p:nvPr>
            <p:ph type="body" idx="1"/>
          </p:nvPr>
        </p:nvSpPr>
        <p:spPr>
          <a:xfrm>
            <a:off x="838200" y="2694647"/>
            <a:ext cx="10515600" cy="348231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7CA3F577-460E-6CD9-A645-97699811F6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2F4590-6CF1-44AB-A618-43E38D8CE81E}" type="datetimeFigureOut">
              <a:rPr lang="en-IN" smtClean="0"/>
              <a:t>22-03-2026</a:t>
            </a:fld>
            <a:endParaRPr lang="en-IN"/>
          </a:p>
        </p:txBody>
      </p:sp>
      <p:sp>
        <p:nvSpPr>
          <p:cNvPr id="5" name="Footer Placeholder 4">
            <a:extLst>
              <a:ext uri="{FF2B5EF4-FFF2-40B4-BE49-F238E27FC236}">
                <a16:creationId xmlns:a16="http://schemas.microsoft.com/office/drawing/2014/main" id="{E040FD43-0C20-B495-4555-DB108C45FB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DCA31C2-DC18-AFA2-4ABB-1207D01483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9F7207-EB19-4894-A3BE-9E4E729432A3}" type="slidenum">
              <a:rPr lang="en-IN" smtClean="0"/>
              <a:t>‹#›</a:t>
            </a:fld>
            <a:endParaRPr lang="en-IN"/>
          </a:p>
        </p:txBody>
      </p:sp>
      <p:pic>
        <p:nvPicPr>
          <p:cNvPr id="9" name="Graphic 8">
            <a:extLst>
              <a:ext uri="{FF2B5EF4-FFF2-40B4-BE49-F238E27FC236}">
                <a16:creationId xmlns:a16="http://schemas.microsoft.com/office/drawing/2014/main" id="{D3CD6679-07A0-05FE-75E9-B7D2BAF3562F}"/>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0639927" y="-192652"/>
            <a:ext cx="1747378" cy="1747378"/>
          </a:xfrm>
          <a:prstGeom prst="rect">
            <a:avLst/>
          </a:prstGeom>
        </p:spPr>
      </p:pic>
      <p:pic>
        <p:nvPicPr>
          <p:cNvPr id="11" name="Graphic 10">
            <a:extLst>
              <a:ext uri="{FF2B5EF4-FFF2-40B4-BE49-F238E27FC236}">
                <a16:creationId xmlns:a16="http://schemas.microsoft.com/office/drawing/2014/main" id="{16B35353-51F3-1CCA-EAA1-97EEB941F388}"/>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78699" y="256166"/>
            <a:ext cx="2855814" cy="849742"/>
          </a:xfrm>
          <a:prstGeom prst="rect">
            <a:avLst/>
          </a:prstGeom>
        </p:spPr>
      </p:pic>
    </p:spTree>
    <p:extLst>
      <p:ext uri="{BB962C8B-B14F-4D97-AF65-F5344CB8AC3E}">
        <p14:creationId xmlns:p14="http://schemas.microsoft.com/office/powerpoint/2010/main" val="692947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jpg"/><Relationship Id="rId5" Type="http://schemas.microsoft.com/office/2007/relationships/hdphoto" Target="../media/hdphoto3.wdp"/><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jp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image" Target="../media/image14.jpg"/><Relationship Id="rId4" Type="http://schemas.microsoft.com/office/2007/relationships/hdphoto" Target="../media/hdphoto4.wdp"/></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jpeg"/><Relationship Id="rId4" Type="http://schemas.openxmlformats.org/officeDocument/2006/relationships/image" Target="../media/image19.svg"/></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B992DD-9BDD-DF7F-D5C3-0FD792DEFB58}"/>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580103" y="265470"/>
            <a:ext cx="10886867" cy="6523703"/>
          </a:xfrm>
          <a:prstGeom prst="rect">
            <a:avLst/>
          </a:prstGeom>
        </p:spPr>
      </p:pic>
      <p:sp>
        <p:nvSpPr>
          <p:cNvPr id="7" name="Title 6">
            <a:extLst>
              <a:ext uri="{FF2B5EF4-FFF2-40B4-BE49-F238E27FC236}">
                <a16:creationId xmlns:a16="http://schemas.microsoft.com/office/drawing/2014/main" id="{9556F0F5-1FF5-B1AE-A30A-4455301F520C}"/>
              </a:ext>
            </a:extLst>
          </p:cNvPr>
          <p:cNvSpPr>
            <a:spLocks noGrp="1"/>
          </p:cNvSpPr>
          <p:nvPr>
            <p:ph type="ctrTitle"/>
          </p:nvPr>
        </p:nvSpPr>
        <p:spPr/>
        <p:txBody>
          <a:bodyPr>
            <a:normAutofit/>
          </a:bodyPr>
          <a:lstStyle/>
          <a:p>
            <a:r>
              <a:rPr lang="en-US" sz="6600" dirty="0">
                <a:latin typeface="Berlin Sans FB Demi" panose="020E0802020502020306" pitchFamily="34" charset="0"/>
              </a:rPr>
              <a:t>TABLEFORGE</a:t>
            </a:r>
          </a:p>
        </p:txBody>
      </p:sp>
      <p:sp>
        <p:nvSpPr>
          <p:cNvPr id="8" name="TextBox 7">
            <a:extLst>
              <a:ext uri="{FF2B5EF4-FFF2-40B4-BE49-F238E27FC236}">
                <a16:creationId xmlns:a16="http://schemas.microsoft.com/office/drawing/2014/main" id="{B6C80ECF-2E1A-D117-BE51-D1A5960711BF}"/>
              </a:ext>
            </a:extLst>
          </p:cNvPr>
          <p:cNvSpPr txBox="1"/>
          <p:nvPr/>
        </p:nvSpPr>
        <p:spPr>
          <a:xfrm>
            <a:off x="4463845" y="4149213"/>
            <a:ext cx="3441290" cy="523220"/>
          </a:xfrm>
          <a:prstGeom prst="rect">
            <a:avLst/>
          </a:prstGeom>
          <a:noFill/>
        </p:spPr>
        <p:txBody>
          <a:bodyPr wrap="square" rtlCol="0">
            <a:spAutoFit/>
          </a:bodyPr>
          <a:lstStyle/>
          <a:p>
            <a:pPr algn="ctr"/>
            <a:r>
              <a:rPr lang="en-US" sz="2800" dirty="0">
                <a:latin typeface="Berlin Sans FB Demi" panose="020E0802020502020306" pitchFamily="34" charset="0"/>
              </a:rPr>
              <a:t>TEAM NAME: </a:t>
            </a:r>
            <a:r>
              <a:rPr lang="en-US" sz="2800" dirty="0" err="1">
                <a:solidFill>
                  <a:srgbClr val="CC0000"/>
                </a:solidFill>
                <a:latin typeface="Berlin Sans FB Demi" panose="020E0802020502020306" pitchFamily="34" charset="0"/>
              </a:rPr>
              <a:t>CodeX</a:t>
            </a:r>
            <a:endParaRPr lang="en-US" sz="2800" dirty="0">
              <a:solidFill>
                <a:srgbClr val="CC0000"/>
              </a:solidFill>
              <a:latin typeface="Berlin Sans FB Demi" panose="020E0802020502020306" pitchFamily="34" charset="0"/>
            </a:endParaRPr>
          </a:p>
        </p:txBody>
      </p:sp>
    </p:spTree>
    <p:extLst>
      <p:ext uri="{BB962C8B-B14F-4D97-AF65-F5344CB8AC3E}">
        <p14:creationId xmlns:p14="http://schemas.microsoft.com/office/powerpoint/2010/main" val="3351527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99898"/>
            <a:ext cx="10972800" cy="1143000"/>
          </a:xfrm>
        </p:spPr>
        <p:txBody>
          <a:bodyPr>
            <a:normAutofit/>
          </a:bodyPr>
          <a:lstStyle/>
          <a:p>
            <a:r>
              <a:rPr lang="en-IN" dirty="0">
                <a:latin typeface="Berlin Sans FB Demi" panose="020E0802020502020306" pitchFamily="34" charset="0"/>
              </a:rPr>
              <a:t>Problem Statement</a:t>
            </a:r>
            <a:endParaRPr lang="en-IN" dirty="0">
              <a:latin typeface="Berlin Sans FB Demi" panose="020E0802020502020306" pitchFamily="34" charset="0"/>
              <a:ea typeface="Calibri"/>
              <a:cs typeface="Calibri"/>
            </a:endParaRPr>
          </a:p>
        </p:txBody>
      </p:sp>
      <p:sp>
        <p:nvSpPr>
          <p:cNvPr id="5" name="Slide Number Placeholder 4">
            <a:extLst>
              <a:ext uri="{FF2B5EF4-FFF2-40B4-BE49-F238E27FC236}">
                <a16:creationId xmlns:a16="http://schemas.microsoft.com/office/drawing/2014/main" id="{E54AF33C-F726-ED27-C83C-67DB2806D3B8}"/>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9" name="TextBox 8">
            <a:extLst>
              <a:ext uri="{FF2B5EF4-FFF2-40B4-BE49-F238E27FC236}">
                <a16:creationId xmlns:a16="http://schemas.microsoft.com/office/drawing/2014/main" id="{78ECEBD3-4AF5-901C-8ACC-97EA09702793}"/>
              </a:ext>
            </a:extLst>
          </p:cNvPr>
          <p:cNvSpPr txBox="1"/>
          <p:nvPr/>
        </p:nvSpPr>
        <p:spPr>
          <a:xfrm>
            <a:off x="501445" y="1317521"/>
            <a:ext cx="11448206" cy="4524315"/>
          </a:xfrm>
          <a:prstGeom prst="rect">
            <a:avLst/>
          </a:prstGeom>
          <a:noFill/>
        </p:spPr>
        <p:txBody>
          <a:bodyPr wrap="square" rtlCol="0">
            <a:spAutoFit/>
          </a:bodyPr>
          <a:lstStyle/>
          <a:p>
            <a:pPr algn="just"/>
            <a:r>
              <a:rPr lang="en-US" b="1" dirty="0">
                <a:latin typeface="Berlin Sans FB Demi" panose="020E0802020502020306" pitchFamily="34" charset="0"/>
                <a:ea typeface="Sans Serif Collection" panose="020B0502040504020204" pitchFamily="34" charset="0"/>
                <a:cs typeface="Sans Serif Collection" panose="020B0502040504020204" pitchFamily="34" charset="0"/>
              </a:rPr>
              <a:t>Problem</a:t>
            </a:r>
          </a:p>
          <a:p>
            <a:pPr algn="just"/>
            <a:r>
              <a:rPr lang="en-US" dirty="0">
                <a:latin typeface="Goudy Old Style" panose="02020502050305020303" pitchFamily="18" charset="0"/>
                <a:ea typeface="Sans Serif Collection" panose="020B0502040504020204" pitchFamily="34" charset="0"/>
                <a:cs typeface="Sans Serif Collection" panose="020B0502040504020204" pitchFamily="34" charset="0"/>
              </a:rPr>
              <a:t>Modern applications rely heavily on databases like SQLite, MySQL, and PostgreSQL to store and manage structured data. However, interacting with these databases usually requires SQL knowledge and developer-focused tools. Meanwhile, spreadsheet-style platforms such as </a:t>
            </a:r>
            <a:r>
              <a:rPr lang="en-US" dirty="0" err="1">
                <a:latin typeface="Goudy Old Style" panose="02020502050305020303" pitchFamily="18" charset="0"/>
                <a:ea typeface="Sans Serif Collection" panose="020B0502040504020204" pitchFamily="34" charset="0"/>
                <a:cs typeface="Sans Serif Collection" panose="020B0502040504020204" pitchFamily="34" charset="0"/>
              </a:rPr>
              <a:t>Airtable</a:t>
            </a:r>
            <a:r>
              <a:rPr lang="en-US" dirty="0">
                <a:latin typeface="Goudy Old Style" panose="02020502050305020303" pitchFamily="18" charset="0"/>
                <a:ea typeface="Sans Serif Collection" panose="020B0502040504020204" pitchFamily="34" charset="0"/>
                <a:cs typeface="Sans Serif Collection" panose="020B0502040504020204" pitchFamily="34" charset="0"/>
              </a:rPr>
              <a:t> make data easy to edit but lock users into isolated ecosystems.</a:t>
            </a:r>
          </a:p>
          <a:p>
            <a:pPr algn="just"/>
            <a:endParaRPr lang="en-US" dirty="0">
              <a:latin typeface="Goudy Old Style" panose="02020502050305020303" pitchFamily="18" charset="0"/>
              <a:ea typeface="Sans Serif Collection" panose="020B0502040504020204" pitchFamily="34" charset="0"/>
              <a:cs typeface="Sans Serif Collection" panose="020B0502040504020204" pitchFamily="34" charset="0"/>
            </a:endParaRPr>
          </a:p>
          <a:p>
            <a:pPr algn="just"/>
            <a:r>
              <a:rPr lang="en-US" dirty="0">
                <a:latin typeface="Berlin Sans FB Demi" panose="020E0802020502020306" pitchFamily="34" charset="0"/>
              </a:rPr>
              <a:t>Why it matters</a:t>
            </a:r>
            <a:endParaRPr lang="en-US" dirty="0">
              <a:latin typeface="Berlin Sans FB Demi" panose="020E0802020502020306" pitchFamily="34" charset="0"/>
              <a:ea typeface="Sans Serif Collection" panose="020B0502040504020204" pitchFamily="34" charset="0"/>
              <a:cs typeface="Sans Serif Collection" panose="020B0502040504020204" pitchFamily="34" charset="0"/>
            </a:endParaRPr>
          </a:p>
          <a:p>
            <a:pPr algn="just"/>
            <a:r>
              <a:rPr lang="en-US" dirty="0">
                <a:latin typeface="Goudy Old Style" panose="02020502050305020303" pitchFamily="18" charset="0"/>
                <a:ea typeface="Sans Serif Collection" panose="020B0502040504020204" pitchFamily="34" charset="0"/>
                <a:cs typeface="Sans Serif Collection" panose="020B0502040504020204" pitchFamily="34" charset="0"/>
              </a:rPr>
              <a:t>Non-technical users want </a:t>
            </a:r>
            <a:r>
              <a:rPr lang="en-US" dirty="0" err="1">
                <a:latin typeface="Goudy Old Style" panose="02020502050305020303" pitchFamily="18" charset="0"/>
                <a:ea typeface="Sans Serif Collection" panose="020B0502040504020204" pitchFamily="34" charset="0"/>
                <a:cs typeface="Sans Serif Collection" panose="020B0502040504020204" pitchFamily="34" charset="0"/>
              </a:rPr>
              <a:t>Airtable's</a:t>
            </a:r>
            <a:r>
              <a:rPr lang="en-US" dirty="0">
                <a:latin typeface="Goudy Old Style" panose="02020502050305020303" pitchFamily="18" charset="0"/>
                <a:ea typeface="Sans Serif Collection" panose="020B0502040504020204" pitchFamily="34" charset="0"/>
                <a:cs typeface="Sans Serif Collection" panose="020B0502040504020204" pitchFamily="34" charset="0"/>
              </a:rPr>
              <a:t> simplicity, but their data gets locked in isolation. Data professionals use </a:t>
            </a:r>
            <a:r>
              <a:rPr lang="en-US" dirty="0" err="1">
                <a:latin typeface="Goudy Old Style" panose="02020502050305020303" pitchFamily="18" charset="0"/>
                <a:ea typeface="Sans Serif Collection" panose="020B0502040504020204" pitchFamily="34" charset="0"/>
                <a:cs typeface="Sans Serif Collection" panose="020B0502040504020204" pitchFamily="34" charset="0"/>
              </a:rPr>
              <a:t>DBeaver</a:t>
            </a:r>
            <a:r>
              <a:rPr lang="en-US" dirty="0">
                <a:latin typeface="Goudy Old Style" panose="02020502050305020303" pitchFamily="18" charset="0"/>
                <a:ea typeface="Sans Serif Collection" panose="020B0502040504020204" pitchFamily="34" charset="0"/>
                <a:cs typeface="Sans Serif Collection" panose="020B0502040504020204" pitchFamily="34" charset="0"/>
              </a:rPr>
              <a:t>, but it requires SQL expertise. No tool bridges both worlds while keeping data in control.</a:t>
            </a:r>
          </a:p>
          <a:p>
            <a:pPr algn="just"/>
            <a:r>
              <a:rPr lang="en-US" dirty="0">
                <a:latin typeface="Goudy Old Style" panose="02020502050305020303" pitchFamily="18" charset="0"/>
              </a:rPr>
              <a:t>As students, we often face a frustrating choice: simple tools or powerful ones — rarely both. We use Google Sheets because it’s easy for group projects. But when our project ideas needed real databases with proper relationships and constraints, things became complicated. SQL suddenly felt like a barrier.</a:t>
            </a:r>
          </a:p>
          <a:p>
            <a:pPr algn="just"/>
            <a:endParaRPr lang="en-US" dirty="0">
              <a:latin typeface="Goudy Old Style" panose="02020502050305020303" pitchFamily="18" charset="0"/>
            </a:endParaRPr>
          </a:p>
          <a:p>
            <a:pPr algn="just"/>
            <a:r>
              <a:rPr lang="en-US" b="1" dirty="0">
                <a:latin typeface="Berlin Sans FB Demi" panose="020E0802020502020306" pitchFamily="34" charset="0"/>
              </a:rPr>
              <a:t>What needs to be done : Tableforge-A Spreadsheet-Like Interface for Real Databases</a:t>
            </a:r>
          </a:p>
          <a:p>
            <a:pPr algn="just"/>
            <a:endParaRPr lang="en-US" b="1" dirty="0">
              <a:latin typeface="Berlin Sans FB Demi" panose="020E0802020502020306" pitchFamily="34" charset="0"/>
            </a:endParaRPr>
          </a:p>
          <a:p>
            <a:pPr algn="just"/>
            <a:endParaRPr lang="en-US" dirty="0">
              <a:latin typeface="Goudy Old Style" panose="02020502050305020303" pitchFamily="18" charset="0"/>
              <a:ea typeface="Sans Serif Collection" panose="020B0502040504020204" pitchFamily="34" charset="0"/>
              <a:cs typeface="Sans Serif Collection" panose="020B0502040504020204" pitchFamily="34" charset="0"/>
            </a:endParaRPr>
          </a:p>
          <a:p>
            <a:endParaRPr lang="en-US" dirty="0"/>
          </a:p>
        </p:txBody>
      </p:sp>
      <p:pic>
        <p:nvPicPr>
          <p:cNvPr id="11" name="Picture 10">
            <a:extLst>
              <a:ext uri="{FF2B5EF4-FFF2-40B4-BE49-F238E27FC236}">
                <a16:creationId xmlns:a16="http://schemas.microsoft.com/office/drawing/2014/main" id="{5B98BE5A-B0B5-D585-C69D-0EF0133EC003}"/>
              </a:ext>
            </a:extLst>
          </p:cNvPr>
          <p:cNvPicPr>
            <a:picLocks noChangeAspect="1"/>
          </p:cNvPicPr>
          <p:nvPr/>
        </p:nvPicPr>
        <p:blipFill>
          <a:blip r:embed="rId2">
            <a:duotone>
              <a:prstClr val="black"/>
              <a:schemeClr val="accent5">
                <a:lumMod val="60000"/>
                <a:lumOff val="40000"/>
                <a:tint val="45000"/>
                <a:satMod val="400000"/>
              </a:schemeClr>
            </a:duotone>
            <a:extLst>
              <a:ext uri="{28A0092B-C50C-407E-A947-70E740481C1C}">
                <a14:useLocalDpi xmlns:a14="http://schemas.microsoft.com/office/drawing/2010/main" val="0"/>
              </a:ext>
            </a:extLst>
          </a:blip>
          <a:srcRect l="274" t="-12057" r="365" b="14672"/>
          <a:stretch>
            <a:fillRect/>
          </a:stretch>
        </p:blipFill>
        <p:spPr>
          <a:xfrm>
            <a:off x="920390" y="4424515"/>
            <a:ext cx="10711171" cy="20647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4233D-36EA-0835-B67D-3EFE53CFF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B7872-17A4-B5E2-5896-FAECAC1087BC}"/>
              </a:ext>
            </a:extLst>
          </p:cNvPr>
          <p:cNvSpPr>
            <a:spLocks noGrp="1"/>
          </p:cNvSpPr>
          <p:nvPr>
            <p:ph type="title"/>
          </p:nvPr>
        </p:nvSpPr>
        <p:spPr>
          <a:xfrm>
            <a:off x="609600" y="399898"/>
            <a:ext cx="10972800" cy="1143000"/>
          </a:xfrm>
        </p:spPr>
        <p:txBody>
          <a:bodyPr>
            <a:normAutofit/>
          </a:bodyPr>
          <a:lstStyle/>
          <a:p>
            <a:r>
              <a:rPr lang="en-IN" dirty="0">
                <a:latin typeface="Berlin Sans FB Demi" panose="020E0802020502020306" pitchFamily="34" charset="0"/>
              </a:rPr>
              <a:t>Solution Overview</a:t>
            </a:r>
            <a:endParaRPr lang="en-IN" dirty="0">
              <a:latin typeface="Berlin Sans FB Demi" panose="020E0802020502020306" pitchFamily="34" charset="0"/>
              <a:ea typeface="Calibri"/>
              <a:cs typeface="Calibri"/>
            </a:endParaRPr>
          </a:p>
        </p:txBody>
      </p:sp>
      <p:sp>
        <p:nvSpPr>
          <p:cNvPr id="5" name="Slide Number Placeholder 4">
            <a:extLst>
              <a:ext uri="{FF2B5EF4-FFF2-40B4-BE49-F238E27FC236}">
                <a16:creationId xmlns:a16="http://schemas.microsoft.com/office/drawing/2014/main" id="{086652B2-E7E0-5229-FA75-66864359DA0E}"/>
              </a:ext>
            </a:extLst>
          </p:cNvPr>
          <p:cNvSpPr>
            <a:spLocks noGrp="1"/>
          </p:cNvSpPr>
          <p:nvPr>
            <p:ph type="sldNum" sz="quarter" idx="12"/>
          </p:nvPr>
        </p:nvSpPr>
        <p:spPr/>
        <p:txBody>
          <a:bodyPr/>
          <a:lstStyle/>
          <a:p>
            <a:fld id="{C1FF6DA9-008F-8B48-92A6-B652298478BF}" type="slidenum">
              <a:rPr lang="en-US" smtClean="0"/>
              <a:t>3</a:t>
            </a:fld>
            <a:endParaRPr lang="en-US"/>
          </a:p>
        </p:txBody>
      </p:sp>
      <p:pic>
        <p:nvPicPr>
          <p:cNvPr id="10" name="Picture 9">
            <a:extLst>
              <a:ext uri="{FF2B5EF4-FFF2-40B4-BE49-F238E27FC236}">
                <a16:creationId xmlns:a16="http://schemas.microsoft.com/office/drawing/2014/main" id="{32F5B15E-03BB-C650-2543-5490FF57F8EF}"/>
              </a:ext>
            </a:extLst>
          </p:cNvPr>
          <p:cNvPicPr>
            <a:picLocks noChangeAspect="1"/>
          </p:cNvPicPr>
          <p:nvPr/>
        </p:nvPicPr>
        <p:blipFill>
          <a:blip r:embed="rId2">
            <a:extLst>
              <a:ext uri="{28A0092B-C50C-407E-A947-70E740481C1C}">
                <a14:useLocalDpi xmlns:a14="http://schemas.microsoft.com/office/drawing/2010/main" val="0"/>
              </a:ext>
            </a:extLst>
          </a:blip>
          <a:srcRect b="7596"/>
          <a:stretch>
            <a:fillRect/>
          </a:stretch>
        </p:blipFill>
        <p:spPr>
          <a:xfrm>
            <a:off x="3224980" y="2960125"/>
            <a:ext cx="5438242" cy="3499668"/>
          </a:xfrm>
          <a:prstGeom prst="rect">
            <a:avLst/>
          </a:prstGeom>
        </p:spPr>
      </p:pic>
      <p:sp>
        <p:nvSpPr>
          <p:cNvPr id="13" name="TextBox 12">
            <a:extLst>
              <a:ext uri="{FF2B5EF4-FFF2-40B4-BE49-F238E27FC236}">
                <a16:creationId xmlns:a16="http://schemas.microsoft.com/office/drawing/2014/main" id="{7FCB3F0B-5C45-4BFB-A9A0-422F338CEC1D}"/>
              </a:ext>
            </a:extLst>
          </p:cNvPr>
          <p:cNvSpPr txBox="1"/>
          <p:nvPr/>
        </p:nvSpPr>
        <p:spPr>
          <a:xfrm>
            <a:off x="727587" y="1317523"/>
            <a:ext cx="10815484" cy="1323439"/>
          </a:xfrm>
          <a:prstGeom prst="rect">
            <a:avLst/>
          </a:prstGeom>
          <a:noFill/>
        </p:spPr>
        <p:txBody>
          <a:bodyPr wrap="square" rtlCol="0">
            <a:spAutoFit/>
          </a:bodyPr>
          <a:lstStyle/>
          <a:p>
            <a:pPr algn="just"/>
            <a:r>
              <a:rPr lang="en-US" sz="2000" dirty="0">
                <a:latin typeface="Goudy Old Style" panose="02020502050305020303" pitchFamily="18" charset="0"/>
              </a:rPr>
              <a:t>With TableForge, we wanted to make working with databases much easier and more intuitive.</a:t>
            </a:r>
            <a:br>
              <a:rPr lang="en-US" sz="2000" dirty="0">
                <a:latin typeface="Goudy Old Style" panose="02020502050305020303" pitchFamily="18" charset="0"/>
              </a:rPr>
            </a:br>
            <a:r>
              <a:rPr lang="en-US" sz="2000" dirty="0">
                <a:latin typeface="Goudy Old Style" panose="02020502050305020303" pitchFamily="18" charset="0"/>
              </a:rPr>
              <a:t>Our platform allows users to interact with real databases like SQLite, PostgreSQL, and MySQL through a spreadsheet-style interface, without needing to write SQL and without locking their data into proprietary systems.</a:t>
            </a:r>
          </a:p>
        </p:txBody>
      </p:sp>
      <p:sp>
        <p:nvSpPr>
          <p:cNvPr id="15" name="TextBox 14">
            <a:extLst>
              <a:ext uri="{FF2B5EF4-FFF2-40B4-BE49-F238E27FC236}">
                <a16:creationId xmlns:a16="http://schemas.microsoft.com/office/drawing/2014/main" id="{C6F7D29E-2FD1-4FC8-4BAE-5BCF5B229AE7}"/>
              </a:ext>
            </a:extLst>
          </p:cNvPr>
          <p:cNvSpPr txBox="1"/>
          <p:nvPr/>
        </p:nvSpPr>
        <p:spPr>
          <a:xfrm>
            <a:off x="688258" y="3254477"/>
            <a:ext cx="2654709" cy="3416320"/>
          </a:xfrm>
          <a:prstGeom prst="rect">
            <a:avLst/>
          </a:prstGeom>
          <a:noFill/>
        </p:spPr>
        <p:txBody>
          <a:bodyPr wrap="square" rtlCol="0">
            <a:spAutoFit/>
          </a:bodyPr>
          <a:lstStyle/>
          <a:p>
            <a:pPr algn="just"/>
            <a:r>
              <a:rPr lang="en-US" b="1" dirty="0">
                <a:latin typeface="Goudy Old Style" panose="02020502050305020303" pitchFamily="18" charset="0"/>
              </a:rPr>
              <a:t>Spreadsheet-Style    Database like Experience:</a:t>
            </a:r>
            <a:br>
              <a:rPr lang="en-US" dirty="0"/>
            </a:br>
            <a:r>
              <a:rPr lang="en-US" dirty="0">
                <a:latin typeface="Goudy Old Style" panose="02020502050305020303" pitchFamily="18" charset="0"/>
              </a:rPr>
              <a:t>We will design a interface so that tables look and give feel like a spreadsheet.</a:t>
            </a:r>
            <a:br>
              <a:rPr lang="en-US" dirty="0">
                <a:latin typeface="Goudy Old Style" panose="02020502050305020303" pitchFamily="18" charset="0"/>
              </a:rPr>
            </a:br>
            <a:r>
              <a:rPr lang="en-US" dirty="0">
                <a:latin typeface="Goudy Old Style" panose="02020502050305020303" pitchFamily="18" charset="0"/>
              </a:rPr>
              <a:t>So that users can easily view records, edit cells, sort data, and apply filters, while all the changes are directly applied to the actual database.</a:t>
            </a:r>
          </a:p>
          <a:p>
            <a:endParaRPr lang="en-US" dirty="0"/>
          </a:p>
        </p:txBody>
      </p:sp>
      <p:sp>
        <p:nvSpPr>
          <p:cNvPr id="16" name="TextBox 15">
            <a:extLst>
              <a:ext uri="{FF2B5EF4-FFF2-40B4-BE49-F238E27FC236}">
                <a16:creationId xmlns:a16="http://schemas.microsoft.com/office/drawing/2014/main" id="{2CF6B592-9C7A-E4E3-CFED-5FBFD7B40D0F}"/>
              </a:ext>
            </a:extLst>
          </p:cNvPr>
          <p:cNvSpPr txBox="1"/>
          <p:nvPr/>
        </p:nvSpPr>
        <p:spPr>
          <a:xfrm>
            <a:off x="688257" y="2694039"/>
            <a:ext cx="2694969" cy="369332"/>
          </a:xfrm>
          <a:prstGeom prst="rect">
            <a:avLst/>
          </a:prstGeom>
          <a:noFill/>
        </p:spPr>
        <p:txBody>
          <a:bodyPr wrap="none" rtlCol="0">
            <a:spAutoFit/>
          </a:bodyPr>
          <a:lstStyle/>
          <a:p>
            <a:r>
              <a:rPr lang="en-US" b="1" dirty="0">
                <a:latin typeface="Berlin Sans FB Demi" panose="020E0802020502020306" pitchFamily="34" charset="0"/>
              </a:rPr>
              <a:t>How our solution works :</a:t>
            </a:r>
          </a:p>
        </p:txBody>
      </p:sp>
      <p:cxnSp>
        <p:nvCxnSpPr>
          <p:cNvPr id="18" name="Straight Connector 17">
            <a:extLst>
              <a:ext uri="{FF2B5EF4-FFF2-40B4-BE49-F238E27FC236}">
                <a16:creationId xmlns:a16="http://schemas.microsoft.com/office/drawing/2014/main" id="{2918DC38-4A4B-F5D3-E181-F603477E7C4A}"/>
              </a:ext>
            </a:extLst>
          </p:cNvPr>
          <p:cNvCxnSpPr/>
          <p:nvPr/>
        </p:nvCxnSpPr>
        <p:spPr>
          <a:xfrm>
            <a:off x="747252" y="3097162"/>
            <a:ext cx="10805651" cy="0"/>
          </a:xfrm>
          <a:prstGeom prst="line">
            <a:avLst/>
          </a:prstGeom>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FD17E640-7C12-FD90-0E35-E4D30BF0A29C}"/>
              </a:ext>
            </a:extLst>
          </p:cNvPr>
          <p:cNvSpPr txBox="1"/>
          <p:nvPr/>
        </p:nvSpPr>
        <p:spPr>
          <a:xfrm>
            <a:off x="8563897" y="3333136"/>
            <a:ext cx="3038168" cy="3139321"/>
          </a:xfrm>
          <a:prstGeom prst="rect">
            <a:avLst/>
          </a:prstGeom>
          <a:noFill/>
        </p:spPr>
        <p:txBody>
          <a:bodyPr wrap="square" rtlCol="0">
            <a:spAutoFit/>
          </a:bodyPr>
          <a:lstStyle/>
          <a:p>
            <a:r>
              <a:rPr lang="en-US" b="1" dirty="0">
                <a:latin typeface="Goudy Old Style" panose="02020502050305020303" pitchFamily="18" charset="0"/>
              </a:rPr>
              <a:t>Visual Database Management:</a:t>
            </a:r>
          </a:p>
          <a:p>
            <a:pPr algn="just"/>
            <a:r>
              <a:rPr lang="en-US" dirty="0">
                <a:latin typeface="Goudy Old Style" panose="02020502050305020303" pitchFamily="18" charset="0"/>
              </a:rPr>
              <a:t>We will Manage databases visually—so that user can connect, explore tables, and see relationships easily.</a:t>
            </a:r>
          </a:p>
          <a:p>
            <a:pPr algn="just"/>
            <a:r>
              <a:rPr lang="en-US" b="1" dirty="0">
                <a:latin typeface="Goudy Old Style" panose="02020502050305020303" pitchFamily="18" charset="0"/>
              </a:rPr>
              <a:t> </a:t>
            </a:r>
          </a:p>
          <a:p>
            <a:pPr algn="just"/>
            <a:r>
              <a:rPr lang="en-US" b="1" dirty="0">
                <a:latin typeface="Goudy Old Style" panose="02020502050305020303" pitchFamily="18" charset="0"/>
              </a:rPr>
              <a:t>Smart Data Editing:</a:t>
            </a:r>
            <a:br>
              <a:rPr lang="en-US" dirty="0">
                <a:latin typeface="Goudy Old Style" panose="02020502050305020303" pitchFamily="18" charset="0"/>
              </a:rPr>
            </a:br>
            <a:r>
              <a:rPr lang="en-US" dirty="0">
                <a:latin typeface="Goudy Old Style" panose="02020502050305020303" pitchFamily="18" charset="0"/>
              </a:rPr>
              <a:t>Our solution Automatically provides the right input for each data type, making editing quick and error-free.</a:t>
            </a:r>
          </a:p>
        </p:txBody>
      </p:sp>
    </p:spTree>
    <p:extLst>
      <p:ext uri="{BB962C8B-B14F-4D97-AF65-F5344CB8AC3E}">
        <p14:creationId xmlns:p14="http://schemas.microsoft.com/office/powerpoint/2010/main" val="890619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AA33D-A2A0-4B2B-92FD-0D5506AB7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C1C062-E4E0-0F2E-E2AF-32F43757B4FE}"/>
              </a:ext>
            </a:extLst>
          </p:cNvPr>
          <p:cNvSpPr>
            <a:spLocks noGrp="1"/>
          </p:cNvSpPr>
          <p:nvPr>
            <p:ph type="title"/>
          </p:nvPr>
        </p:nvSpPr>
        <p:spPr>
          <a:xfrm>
            <a:off x="609600" y="399898"/>
            <a:ext cx="10972800" cy="1143000"/>
          </a:xfrm>
        </p:spPr>
        <p:txBody>
          <a:bodyPr>
            <a:normAutofit/>
          </a:bodyPr>
          <a:lstStyle/>
          <a:p>
            <a:r>
              <a:rPr lang="en-IN" dirty="0">
                <a:latin typeface="Berlin Sans FB Demi" panose="020E0802020502020306" pitchFamily="34" charset="0"/>
              </a:rPr>
              <a:t>Tech Stack</a:t>
            </a:r>
            <a:endParaRPr lang="en-IN" dirty="0">
              <a:latin typeface="Berlin Sans FB Demi" panose="020E0802020502020306" pitchFamily="34" charset="0"/>
              <a:ea typeface="Calibri"/>
              <a:cs typeface="Calibri"/>
            </a:endParaRPr>
          </a:p>
        </p:txBody>
      </p:sp>
      <p:sp>
        <p:nvSpPr>
          <p:cNvPr id="5" name="Slide Number Placeholder 4">
            <a:extLst>
              <a:ext uri="{FF2B5EF4-FFF2-40B4-BE49-F238E27FC236}">
                <a16:creationId xmlns:a16="http://schemas.microsoft.com/office/drawing/2014/main" id="{E956CD73-64D9-25B0-66F6-A1894F11952D}"/>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9" name="TextBox 8">
            <a:extLst>
              <a:ext uri="{FF2B5EF4-FFF2-40B4-BE49-F238E27FC236}">
                <a16:creationId xmlns:a16="http://schemas.microsoft.com/office/drawing/2014/main" id="{33B0799C-34BC-9718-8627-387692080166}"/>
              </a:ext>
            </a:extLst>
          </p:cNvPr>
          <p:cNvSpPr txBox="1"/>
          <p:nvPr/>
        </p:nvSpPr>
        <p:spPr>
          <a:xfrm>
            <a:off x="668592" y="1356850"/>
            <a:ext cx="2084439" cy="461665"/>
          </a:xfrm>
          <a:prstGeom prst="rect">
            <a:avLst/>
          </a:prstGeom>
          <a:noFill/>
        </p:spPr>
        <p:txBody>
          <a:bodyPr wrap="square" rtlCol="0">
            <a:spAutoFit/>
          </a:bodyPr>
          <a:lstStyle/>
          <a:p>
            <a:r>
              <a:rPr lang="en-US" sz="2400" dirty="0">
                <a:latin typeface="Berlin Sans FB Demi" panose="020E0802020502020306" pitchFamily="34" charset="0"/>
              </a:rPr>
              <a:t>Frontend</a:t>
            </a:r>
          </a:p>
        </p:txBody>
      </p:sp>
      <p:pic>
        <p:nvPicPr>
          <p:cNvPr id="11" name="Picture 10">
            <a:extLst>
              <a:ext uri="{FF2B5EF4-FFF2-40B4-BE49-F238E27FC236}">
                <a16:creationId xmlns:a16="http://schemas.microsoft.com/office/drawing/2014/main" id="{404300E2-7FEE-2653-620C-F049284D3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2010" y="2008671"/>
            <a:ext cx="1025340" cy="685801"/>
          </a:xfrm>
          <a:prstGeom prst="rect">
            <a:avLst/>
          </a:prstGeom>
        </p:spPr>
      </p:pic>
      <p:pic>
        <p:nvPicPr>
          <p:cNvPr id="13" name="Picture 12">
            <a:extLst>
              <a:ext uri="{FF2B5EF4-FFF2-40B4-BE49-F238E27FC236}">
                <a16:creationId xmlns:a16="http://schemas.microsoft.com/office/drawing/2014/main" id="{163971D1-2A2C-4E1B-073D-18B2FB1E94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2491" y="2923639"/>
            <a:ext cx="841605" cy="841605"/>
          </a:xfrm>
          <a:prstGeom prst="rect">
            <a:avLst/>
          </a:prstGeom>
        </p:spPr>
      </p:pic>
      <p:pic>
        <p:nvPicPr>
          <p:cNvPr id="15" name="Picture 14">
            <a:extLst>
              <a:ext uri="{FF2B5EF4-FFF2-40B4-BE49-F238E27FC236}">
                <a16:creationId xmlns:a16="http://schemas.microsoft.com/office/drawing/2014/main" id="{3D0DB469-BFAD-5163-581B-572748429D1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879" b="93347" l="9890" r="89973">
                        <a14:foregroundMark x1="43132" y1="89516" x2="51374" y2="93347"/>
                        <a14:foregroundMark x1="51374" y1="93347" x2="52446" y2="92947"/>
                        <a14:backgroundMark x1="51374" y1="95766" x2="60577" y2="92742"/>
                      </a14:backgroundRemoval>
                    </a14:imgEffect>
                  </a14:imgLayer>
                </a14:imgProps>
              </a:ext>
              <a:ext uri="{28A0092B-C50C-407E-A947-70E740481C1C}">
                <a14:useLocalDpi xmlns:a14="http://schemas.microsoft.com/office/drawing/2010/main" val="0"/>
              </a:ext>
            </a:extLst>
          </a:blip>
          <a:stretch>
            <a:fillRect/>
          </a:stretch>
        </p:blipFill>
        <p:spPr>
          <a:xfrm>
            <a:off x="1410565" y="3868562"/>
            <a:ext cx="1952932" cy="1330569"/>
          </a:xfrm>
          <a:prstGeom prst="rect">
            <a:avLst/>
          </a:prstGeom>
        </p:spPr>
      </p:pic>
      <p:cxnSp>
        <p:nvCxnSpPr>
          <p:cNvPr id="17" name="Straight Connector 16">
            <a:extLst>
              <a:ext uri="{FF2B5EF4-FFF2-40B4-BE49-F238E27FC236}">
                <a16:creationId xmlns:a16="http://schemas.microsoft.com/office/drawing/2014/main" id="{9D8D9500-5A18-90D6-02E5-3E3F442684C0}"/>
              </a:ext>
            </a:extLst>
          </p:cNvPr>
          <p:cNvCxnSpPr/>
          <p:nvPr/>
        </p:nvCxnSpPr>
        <p:spPr>
          <a:xfrm>
            <a:off x="747252" y="1828800"/>
            <a:ext cx="10609007"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21437306-7043-70AF-070F-AEFB395BCC24}"/>
              </a:ext>
            </a:extLst>
          </p:cNvPr>
          <p:cNvSpPr txBox="1"/>
          <p:nvPr/>
        </p:nvSpPr>
        <p:spPr>
          <a:xfrm>
            <a:off x="3018825" y="2378217"/>
            <a:ext cx="6105078" cy="677108"/>
          </a:xfrm>
          <a:prstGeom prst="rect">
            <a:avLst/>
          </a:prstGeom>
          <a:noFill/>
        </p:spPr>
        <p:txBody>
          <a:bodyPr wrap="square" rtlCol="0">
            <a:spAutoFit/>
          </a:bodyPr>
          <a:lstStyle/>
          <a:p>
            <a:r>
              <a:rPr lang="en-US" sz="2000" dirty="0">
                <a:latin typeface="Goudy Old Style" panose="02020502050305020303" pitchFamily="18" charset="0"/>
              </a:rPr>
              <a:t>Used to quickly build the main interface and dashboard. </a:t>
            </a:r>
          </a:p>
          <a:p>
            <a:endParaRPr lang="en-US" dirty="0"/>
          </a:p>
        </p:txBody>
      </p:sp>
      <p:sp>
        <p:nvSpPr>
          <p:cNvPr id="20" name="TextBox 19">
            <a:extLst>
              <a:ext uri="{FF2B5EF4-FFF2-40B4-BE49-F238E27FC236}">
                <a16:creationId xmlns:a16="http://schemas.microsoft.com/office/drawing/2014/main" id="{200F9E3E-49A6-C49C-8265-C9F64B758BCB}"/>
              </a:ext>
            </a:extLst>
          </p:cNvPr>
          <p:cNvSpPr txBox="1"/>
          <p:nvPr/>
        </p:nvSpPr>
        <p:spPr>
          <a:xfrm>
            <a:off x="2840657" y="4526836"/>
            <a:ext cx="7282571" cy="677108"/>
          </a:xfrm>
          <a:prstGeom prst="rect">
            <a:avLst/>
          </a:prstGeom>
          <a:noFill/>
        </p:spPr>
        <p:txBody>
          <a:bodyPr wrap="none" rtlCol="0">
            <a:spAutoFit/>
          </a:bodyPr>
          <a:lstStyle/>
          <a:p>
            <a:r>
              <a:rPr lang="en-US" sz="2000" dirty="0">
                <a:latin typeface="Goudy Old Style" panose="02020502050305020303" pitchFamily="18" charset="0"/>
              </a:rPr>
              <a:t>Helps us design a more creative, colorful, and user-friendly interface. </a:t>
            </a:r>
          </a:p>
          <a:p>
            <a:endParaRPr lang="en-US" dirty="0"/>
          </a:p>
        </p:txBody>
      </p:sp>
      <p:sp>
        <p:nvSpPr>
          <p:cNvPr id="21" name="TextBox 20">
            <a:extLst>
              <a:ext uri="{FF2B5EF4-FFF2-40B4-BE49-F238E27FC236}">
                <a16:creationId xmlns:a16="http://schemas.microsoft.com/office/drawing/2014/main" id="{1E0BF563-7D0E-2C84-9936-825A1E46F385}"/>
              </a:ext>
            </a:extLst>
          </p:cNvPr>
          <p:cNvSpPr txBox="1"/>
          <p:nvPr/>
        </p:nvSpPr>
        <p:spPr>
          <a:xfrm>
            <a:off x="3014505" y="1979310"/>
            <a:ext cx="1701107" cy="523220"/>
          </a:xfrm>
          <a:prstGeom prst="rect">
            <a:avLst/>
          </a:prstGeom>
          <a:noFill/>
        </p:spPr>
        <p:txBody>
          <a:bodyPr wrap="none" rtlCol="0">
            <a:spAutoFit/>
          </a:bodyPr>
          <a:lstStyle/>
          <a:p>
            <a:r>
              <a:rPr lang="en-US" sz="2800" b="1" dirty="0" err="1">
                <a:latin typeface="Berlin Sans FB Demi" panose="020E0802020502020306" pitchFamily="34" charset="0"/>
              </a:rPr>
              <a:t>Streamlit</a:t>
            </a:r>
            <a:r>
              <a:rPr lang="en-US" dirty="0">
                <a:latin typeface="Berlin Sans FB Demi" panose="020E0802020502020306" pitchFamily="34" charset="0"/>
              </a:rPr>
              <a:t> </a:t>
            </a:r>
            <a:endParaRPr lang="en-US" dirty="0"/>
          </a:p>
        </p:txBody>
      </p:sp>
      <p:sp>
        <p:nvSpPr>
          <p:cNvPr id="22" name="TextBox 21">
            <a:extLst>
              <a:ext uri="{FF2B5EF4-FFF2-40B4-BE49-F238E27FC236}">
                <a16:creationId xmlns:a16="http://schemas.microsoft.com/office/drawing/2014/main" id="{FB45B1CE-A547-D376-6D5B-7D65304E792B}"/>
              </a:ext>
            </a:extLst>
          </p:cNvPr>
          <p:cNvSpPr txBox="1"/>
          <p:nvPr/>
        </p:nvSpPr>
        <p:spPr>
          <a:xfrm>
            <a:off x="5255289" y="2833635"/>
            <a:ext cx="3139001" cy="523220"/>
          </a:xfrm>
          <a:prstGeom prst="rect">
            <a:avLst/>
          </a:prstGeom>
          <a:noFill/>
        </p:spPr>
        <p:txBody>
          <a:bodyPr wrap="none" rtlCol="0">
            <a:spAutoFit/>
          </a:bodyPr>
          <a:lstStyle/>
          <a:p>
            <a:r>
              <a:rPr lang="en-US" sz="2800" b="1" dirty="0">
                <a:latin typeface="Berlin Sans FB Demi" panose="020E0802020502020306" pitchFamily="34" charset="0"/>
              </a:rPr>
              <a:t>Vanilla JavaScript</a:t>
            </a:r>
            <a:r>
              <a:rPr lang="en-US" sz="2800" dirty="0">
                <a:latin typeface="Berlin Sans FB Demi" panose="020E0802020502020306" pitchFamily="34" charset="0"/>
              </a:rPr>
              <a:t> </a:t>
            </a:r>
          </a:p>
        </p:txBody>
      </p:sp>
      <p:sp>
        <p:nvSpPr>
          <p:cNvPr id="23" name="Arrow: Curved Left 22">
            <a:extLst>
              <a:ext uri="{FF2B5EF4-FFF2-40B4-BE49-F238E27FC236}">
                <a16:creationId xmlns:a16="http://schemas.microsoft.com/office/drawing/2014/main" id="{2995EF6F-6746-35AB-0748-387A9008B59F}"/>
              </a:ext>
            </a:extLst>
          </p:cNvPr>
          <p:cNvSpPr/>
          <p:nvPr/>
        </p:nvSpPr>
        <p:spPr>
          <a:xfrm>
            <a:off x="9696660" y="2491992"/>
            <a:ext cx="793819" cy="994786"/>
          </a:xfrm>
          <a:prstGeom prst="curvedLeft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TextBox 23">
            <a:extLst>
              <a:ext uri="{FF2B5EF4-FFF2-40B4-BE49-F238E27FC236}">
                <a16:creationId xmlns:a16="http://schemas.microsoft.com/office/drawing/2014/main" id="{236937F7-150E-6115-A4FB-5552997C821C}"/>
              </a:ext>
            </a:extLst>
          </p:cNvPr>
          <p:cNvSpPr txBox="1"/>
          <p:nvPr/>
        </p:nvSpPr>
        <p:spPr>
          <a:xfrm>
            <a:off x="2009671" y="3265716"/>
            <a:ext cx="6325321" cy="707886"/>
          </a:xfrm>
          <a:prstGeom prst="rect">
            <a:avLst/>
          </a:prstGeom>
          <a:noFill/>
        </p:spPr>
        <p:txBody>
          <a:bodyPr wrap="none" rtlCol="0">
            <a:spAutoFit/>
          </a:bodyPr>
          <a:lstStyle/>
          <a:p>
            <a:r>
              <a:rPr lang="en-US" sz="2000" dirty="0">
                <a:latin typeface="Goudy Old Style" panose="02020502050305020303" pitchFamily="18" charset="0"/>
              </a:rPr>
              <a:t>Added to enhance interactivity and dynamic behavior in the </a:t>
            </a:r>
          </a:p>
          <a:p>
            <a:r>
              <a:rPr lang="en-US" sz="2000" dirty="0">
                <a:latin typeface="Goudy Old Style" panose="02020502050305020303" pitchFamily="18" charset="0"/>
              </a:rPr>
              <a:t>application.</a:t>
            </a:r>
          </a:p>
        </p:txBody>
      </p:sp>
      <p:sp>
        <p:nvSpPr>
          <p:cNvPr id="27" name="Arrow: Curved Right 26">
            <a:extLst>
              <a:ext uri="{FF2B5EF4-FFF2-40B4-BE49-F238E27FC236}">
                <a16:creationId xmlns:a16="http://schemas.microsoft.com/office/drawing/2014/main" id="{88652265-43DE-8A85-BE74-BD0FD3EE38A4}"/>
              </a:ext>
            </a:extLst>
          </p:cNvPr>
          <p:cNvSpPr/>
          <p:nvPr/>
        </p:nvSpPr>
        <p:spPr>
          <a:xfrm>
            <a:off x="753626" y="3677696"/>
            <a:ext cx="974690" cy="1045028"/>
          </a:xfrm>
          <a:prstGeom prst="curvedRight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Arrow: Right 28">
            <a:extLst>
              <a:ext uri="{FF2B5EF4-FFF2-40B4-BE49-F238E27FC236}">
                <a16:creationId xmlns:a16="http://schemas.microsoft.com/office/drawing/2014/main" id="{8B333924-886A-ABF0-0769-39CB940DF327}"/>
              </a:ext>
            </a:extLst>
          </p:cNvPr>
          <p:cNvSpPr/>
          <p:nvPr/>
        </p:nvSpPr>
        <p:spPr>
          <a:xfrm>
            <a:off x="743578" y="2080008"/>
            <a:ext cx="974690" cy="562708"/>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5">
                  <a:lumMod val="40000"/>
                  <a:lumOff val="60000"/>
                </a:schemeClr>
              </a:solidFill>
              <a:effectLst>
                <a:outerShdw blurRad="38100" dist="19050" dir="2700000" algn="tl" rotWithShape="0">
                  <a:schemeClr val="dk1">
                    <a:alpha val="40000"/>
                  </a:schemeClr>
                </a:outerShdw>
              </a:effectLst>
            </a:endParaRPr>
          </a:p>
        </p:txBody>
      </p:sp>
      <p:sp>
        <p:nvSpPr>
          <p:cNvPr id="30" name="TextBox 29">
            <a:extLst>
              <a:ext uri="{FF2B5EF4-FFF2-40B4-BE49-F238E27FC236}">
                <a16:creationId xmlns:a16="http://schemas.microsoft.com/office/drawing/2014/main" id="{A7287E2A-3449-0438-6F73-37A7BFDAFC20}"/>
              </a:ext>
            </a:extLst>
          </p:cNvPr>
          <p:cNvSpPr txBox="1"/>
          <p:nvPr/>
        </p:nvSpPr>
        <p:spPr>
          <a:xfrm>
            <a:off x="2853732" y="4119824"/>
            <a:ext cx="1999265" cy="523220"/>
          </a:xfrm>
          <a:prstGeom prst="rect">
            <a:avLst/>
          </a:prstGeom>
          <a:noFill/>
        </p:spPr>
        <p:txBody>
          <a:bodyPr wrap="none" rtlCol="0">
            <a:spAutoFit/>
          </a:bodyPr>
          <a:lstStyle/>
          <a:p>
            <a:r>
              <a:rPr lang="en-US" sz="2800" b="1" dirty="0">
                <a:latin typeface="Berlin Sans FB Demi" panose="020E0802020502020306" pitchFamily="34" charset="0"/>
              </a:rPr>
              <a:t>Custom CSS</a:t>
            </a:r>
            <a:endParaRPr lang="en-US" sz="2800" dirty="0">
              <a:latin typeface="Berlin Sans FB Demi" panose="020E0802020502020306" pitchFamily="34" charset="0"/>
            </a:endParaRPr>
          </a:p>
        </p:txBody>
      </p:sp>
      <p:sp>
        <p:nvSpPr>
          <p:cNvPr id="31" name="TextBox 30">
            <a:extLst>
              <a:ext uri="{FF2B5EF4-FFF2-40B4-BE49-F238E27FC236}">
                <a16:creationId xmlns:a16="http://schemas.microsoft.com/office/drawing/2014/main" id="{08230546-BDC6-223E-3058-D48118825A9B}"/>
              </a:ext>
            </a:extLst>
          </p:cNvPr>
          <p:cNvSpPr txBox="1"/>
          <p:nvPr/>
        </p:nvSpPr>
        <p:spPr>
          <a:xfrm>
            <a:off x="644011" y="5314333"/>
            <a:ext cx="2084439" cy="461665"/>
          </a:xfrm>
          <a:prstGeom prst="rect">
            <a:avLst/>
          </a:prstGeom>
          <a:noFill/>
        </p:spPr>
        <p:txBody>
          <a:bodyPr wrap="square" rtlCol="0">
            <a:spAutoFit/>
          </a:bodyPr>
          <a:lstStyle/>
          <a:p>
            <a:r>
              <a:rPr lang="en-US" sz="2400" dirty="0">
                <a:latin typeface="Berlin Sans FB Demi" panose="020E0802020502020306" pitchFamily="34" charset="0"/>
              </a:rPr>
              <a:t>Backend</a:t>
            </a:r>
          </a:p>
        </p:txBody>
      </p:sp>
      <p:cxnSp>
        <p:nvCxnSpPr>
          <p:cNvPr id="33" name="Straight Connector 32">
            <a:extLst>
              <a:ext uri="{FF2B5EF4-FFF2-40B4-BE49-F238E27FC236}">
                <a16:creationId xmlns:a16="http://schemas.microsoft.com/office/drawing/2014/main" id="{98AD5A7A-8214-A713-201C-0DA166592A2D}"/>
              </a:ext>
            </a:extLst>
          </p:cNvPr>
          <p:cNvCxnSpPr/>
          <p:nvPr/>
        </p:nvCxnSpPr>
        <p:spPr>
          <a:xfrm>
            <a:off x="737419" y="5791200"/>
            <a:ext cx="10736826" cy="0"/>
          </a:xfrm>
          <a:prstGeom prst="line">
            <a:avLst/>
          </a:prstGeom>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a16="http://schemas.microsoft.com/office/drawing/2014/main" id="{0F1F66EE-42BD-FA94-6F5D-661687F421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45265" y="5910006"/>
            <a:ext cx="783303" cy="783303"/>
          </a:xfrm>
          <a:prstGeom prst="rect">
            <a:avLst/>
          </a:prstGeom>
        </p:spPr>
      </p:pic>
      <p:sp>
        <p:nvSpPr>
          <p:cNvPr id="37" name="Arrow: Right 36">
            <a:extLst>
              <a:ext uri="{FF2B5EF4-FFF2-40B4-BE49-F238E27FC236}">
                <a16:creationId xmlns:a16="http://schemas.microsoft.com/office/drawing/2014/main" id="{0C61EA97-23A6-CCCF-DA63-174F096D3DDC}"/>
              </a:ext>
            </a:extLst>
          </p:cNvPr>
          <p:cNvSpPr/>
          <p:nvPr/>
        </p:nvSpPr>
        <p:spPr>
          <a:xfrm>
            <a:off x="757084" y="6017343"/>
            <a:ext cx="786581" cy="452283"/>
          </a:xfrm>
          <a:prstGeom prst="right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950ADA18-2C3B-25EA-CC66-5BD66E8166E5}"/>
              </a:ext>
            </a:extLst>
          </p:cNvPr>
          <p:cNvSpPr txBox="1"/>
          <p:nvPr/>
        </p:nvSpPr>
        <p:spPr>
          <a:xfrm>
            <a:off x="2418736" y="5909186"/>
            <a:ext cx="4911153" cy="830997"/>
          </a:xfrm>
          <a:prstGeom prst="rect">
            <a:avLst/>
          </a:prstGeom>
          <a:noFill/>
        </p:spPr>
        <p:txBody>
          <a:bodyPr wrap="none" rtlCol="0">
            <a:spAutoFit/>
          </a:bodyPr>
          <a:lstStyle/>
          <a:p>
            <a:r>
              <a:rPr lang="en-US" sz="2800" b="1" dirty="0">
                <a:latin typeface="Berlin Sans FB Demi" panose="020E0802020502020306" pitchFamily="34" charset="0"/>
              </a:rPr>
              <a:t>Python</a:t>
            </a:r>
          </a:p>
          <a:p>
            <a:r>
              <a:rPr lang="en-US" sz="2000" dirty="0">
                <a:latin typeface="Goudy Old Style" panose="02020502050305020303" pitchFamily="18" charset="0"/>
              </a:rPr>
              <a:t>Handles the core functionality of the platform.</a:t>
            </a:r>
          </a:p>
        </p:txBody>
      </p:sp>
    </p:spTree>
    <p:extLst>
      <p:ext uri="{BB962C8B-B14F-4D97-AF65-F5344CB8AC3E}">
        <p14:creationId xmlns:p14="http://schemas.microsoft.com/office/powerpoint/2010/main" val="1424922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07B83-48DA-707C-0026-B7DD8EB2B31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6A07F65-AF29-E77D-9853-9CE9E18F8E39}"/>
              </a:ext>
            </a:extLst>
          </p:cNvPr>
          <p:cNvSpPr>
            <a:spLocks noGrp="1"/>
          </p:cNvSpPr>
          <p:nvPr>
            <p:ph type="sldNum" sz="quarter" idx="12"/>
          </p:nvPr>
        </p:nvSpPr>
        <p:spPr/>
        <p:txBody>
          <a:bodyPr/>
          <a:lstStyle/>
          <a:p>
            <a:fld id="{C1FF6DA9-008F-8B48-92A6-B652298478BF}" type="slidenum">
              <a:rPr lang="en-US" smtClean="0"/>
              <a:t>5</a:t>
            </a:fld>
            <a:endParaRPr lang="en-US" dirty="0"/>
          </a:p>
        </p:txBody>
      </p:sp>
      <p:pic>
        <p:nvPicPr>
          <p:cNvPr id="8" name="Picture 7">
            <a:extLst>
              <a:ext uri="{FF2B5EF4-FFF2-40B4-BE49-F238E27FC236}">
                <a16:creationId xmlns:a16="http://schemas.microsoft.com/office/drawing/2014/main" id="{2252F1C3-4F23-562E-3854-6725BD414E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959" y="1182761"/>
            <a:ext cx="968338" cy="647675"/>
          </a:xfrm>
          <a:prstGeom prst="rect">
            <a:avLst/>
          </a:prstGeom>
        </p:spPr>
      </p:pic>
      <p:sp>
        <p:nvSpPr>
          <p:cNvPr id="9" name="TextBox 8">
            <a:extLst>
              <a:ext uri="{FF2B5EF4-FFF2-40B4-BE49-F238E27FC236}">
                <a16:creationId xmlns:a16="http://schemas.microsoft.com/office/drawing/2014/main" id="{6E9A1EC6-BB55-D073-AB0E-C8F4B08F5540}"/>
              </a:ext>
            </a:extLst>
          </p:cNvPr>
          <p:cNvSpPr txBox="1"/>
          <p:nvPr/>
        </p:nvSpPr>
        <p:spPr>
          <a:xfrm>
            <a:off x="1887794" y="1052051"/>
            <a:ext cx="8209748" cy="830997"/>
          </a:xfrm>
          <a:prstGeom prst="rect">
            <a:avLst/>
          </a:prstGeom>
          <a:noFill/>
        </p:spPr>
        <p:txBody>
          <a:bodyPr wrap="none" rtlCol="0">
            <a:spAutoFit/>
          </a:bodyPr>
          <a:lstStyle/>
          <a:p>
            <a:r>
              <a:rPr lang="en-US" sz="2800" b="1" dirty="0" err="1">
                <a:latin typeface="Berlin Sans FB Demi" panose="020E0802020502020306" pitchFamily="34" charset="0"/>
              </a:rPr>
              <a:t>Streamlit</a:t>
            </a:r>
            <a:r>
              <a:rPr lang="en-US" sz="2800" dirty="0">
                <a:latin typeface="Berlin Sans FB Demi" panose="020E0802020502020306" pitchFamily="34" charset="0"/>
              </a:rPr>
              <a:t> </a:t>
            </a:r>
          </a:p>
          <a:p>
            <a:r>
              <a:rPr lang="en-US" sz="2000" dirty="0">
                <a:latin typeface="Goudy Old Style" panose="02020502050305020303" pitchFamily="18" charset="0"/>
              </a:rPr>
              <a:t>It will Act as both the UI framework and backend controller for our prototype</a:t>
            </a:r>
            <a:r>
              <a:rPr lang="en-US" dirty="0"/>
              <a:t>.</a:t>
            </a:r>
          </a:p>
        </p:txBody>
      </p:sp>
      <p:sp>
        <p:nvSpPr>
          <p:cNvPr id="15" name="TextBox 14">
            <a:extLst>
              <a:ext uri="{FF2B5EF4-FFF2-40B4-BE49-F238E27FC236}">
                <a16:creationId xmlns:a16="http://schemas.microsoft.com/office/drawing/2014/main" id="{64ABEEE2-B415-A252-2B35-58F1A225D96A}"/>
              </a:ext>
            </a:extLst>
          </p:cNvPr>
          <p:cNvSpPr txBox="1"/>
          <p:nvPr/>
        </p:nvSpPr>
        <p:spPr>
          <a:xfrm>
            <a:off x="776748" y="1909605"/>
            <a:ext cx="6194322" cy="461665"/>
          </a:xfrm>
          <a:prstGeom prst="rect">
            <a:avLst/>
          </a:prstGeom>
          <a:noFill/>
        </p:spPr>
        <p:txBody>
          <a:bodyPr wrap="square">
            <a:spAutoFit/>
          </a:bodyPr>
          <a:lstStyle/>
          <a:p>
            <a:r>
              <a:rPr lang="en-US" sz="2400" dirty="0">
                <a:latin typeface="Berlin Sans FB Demi" panose="020E0802020502020306" pitchFamily="34" charset="0"/>
              </a:rPr>
              <a:t>Database Support</a:t>
            </a:r>
          </a:p>
        </p:txBody>
      </p:sp>
      <p:cxnSp>
        <p:nvCxnSpPr>
          <p:cNvPr id="17" name="Straight Connector 16">
            <a:extLst>
              <a:ext uri="{FF2B5EF4-FFF2-40B4-BE49-F238E27FC236}">
                <a16:creationId xmlns:a16="http://schemas.microsoft.com/office/drawing/2014/main" id="{E8E180C2-5E35-14C6-E80C-93F21EF223E5}"/>
              </a:ext>
            </a:extLst>
          </p:cNvPr>
          <p:cNvCxnSpPr/>
          <p:nvPr/>
        </p:nvCxnSpPr>
        <p:spPr>
          <a:xfrm>
            <a:off x="835742" y="2408903"/>
            <a:ext cx="10500852" cy="0"/>
          </a:xfrm>
          <a:prstGeom prst="line">
            <a:avLst/>
          </a:prstGeom>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4A5F80CD-5375-3DE7-FD03-72585E5D147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555523" y="2134828"/>
            <a:ext cx="2079486" cy="1503107"/>
          </a:xfrm>
          <a:prstGeom prst="rect">
            <a:avLst/>
          </a:prstGeom>
        </p:spPr>
      </p:pic>
      <p:sp>
        <p:nvSpPr>
          <p:cNvPr id="20" name="TextBox 19">
            <a:extLst>
              <a:ext uri="{FF2B5EF4-FFF2-40B4-BE49-F238E27FC236}">
                <a16:creationId xmlns:a16="http://schemas.microsoft.com/office/drawing/2014/main" id="{3F7A95A5-82BF-BEC6-3B4B-6ECF1E1532FC}"/>
              </a:ext>
            </a:extLst>
          </p:cNvPr>
          <p:cNvSpPr txBox="1"/>
          <p:nvPr/>
        </p:nvSpPr>
        <p:spPr>
          <a:xfrm>
            <a:off x="1435511" y="2418737"/>
            <a:ext cx="6284349" cy="830997"/>
          </a:xfrm>
          <a:prstGeom prst="rect">
            <a:avLst/>
          </a:prstGeom>
          <a:noFill/>
        </p:spPr>
        <p:txBody>
          <a:bodyPr wrap="none" rtlCol="0">
            <a:spAutoFit/>
          </a:bodyPr>
          <a:lstStyle/>
          <a:p>
            <a:r>
              <a:rPr lang="en-US" sz="2800" b="1" dirty="0">
                <a:latin typeface="Berlin Sans FB Demi" panose="020E0802020502020306" pitchFamily="34" charset="0"/>
              </a:rPr>
              <a:t>SQLite</a:t>
            </a:r>
            <a:r>
              <a:rPr lang="en-US" sz="2800" dirty="0">
                <a:latin typeface="Berlin Sans FB Demi" panose="020E0802020502020306" pitchFamily="34" charset="0"/>
              </a:rPr>
              <a:t> </a:t>
            </a:r>
          </a:p>
          <a:p>
            <a:r>
              <a:rPr lang="en-US" sz="2000" dirty="0">
                <a:latin typeface="Goudy Old Style" panose="02020502050305020303" pitchFamily="18" charset="0"/>
              </a:rPr>
              <a:t>Used as the primary database for demonstration and testing.</a:t>
            </a:r>
          </a:p>
        </p:txBody>
      </p:sp>
      <p:sp>
        <p:nvSpPr>
          <p:cNvPr id="21" name="TextBox 20">
            <a:extLst>
              <a:ext uri="{FF2B5EF4-FFF2-40B4-BE49-F238E27FC236}">
                <a16:creationId xmlns:a16="http://schemas.microsoft.com/office/drawing/2014/main" id="{B222849E-7772-90F9-1285-2A1D626FCC96}"/>
              </a:ext>
            </a:extLst>
          </p:cNvPr>
          <p:cNvSpPr txBox="1"/>
          <p:nvPr/>
        </p:nvSpPr>
        <p:spPr>
          <a:xfrm>
            <a:off x="747252" y="3224981"/>
            <a:ext cx="2287806" cy="369332"/>
          </a:xfrm>
          <a:prstGeom prst="rect">
            <a:avLst/>
          </a:prstGeom>
          <a:noFill/>
        </p:spPr>
        <p:txBody>
          <a:bodyPr wrap="none" rtlCol="0">
            <a:spAutoFit/>
          </a:bodyPr>
          <a:lstStyle/>
          <a:p>
            <a:r>
              <a:rPr lang="en-US" dirty="0">
                <a:latin typeface="Berlin Sans FB Demi" panose="020E0802020502020306" pitchFamily="34" charset="0"/>
              </a:rPr>
              <a:t>Scalable support for</a:t>
            </a:r>
            <a:r>
              <a:rPr lang="en-US" dirty="0"/>
              <a:t>:</a:t>
            </a:r>
          </a:p>
        </p:txBody>
      </p:sp>
      <p:pic>
        <p:nvPicPr>
          <p:cNvPr id="23" name="Picture 22">
            <a:extLst>
              <a:ext uri="{FF2B5EF4-FFF2-40B4-BE49-F238E27FC236}">
                <a16:creationId xmlns:a16="http://schemas.microsoft.com/office/drawing/2014/main" id="{A29BA57B-9E5D-7774-3179-F816891DD5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68484" y="3342968"/>
            <a:ext cx="1360128" cy="816077"/>
          </a:xfrm>
          <a:prstGeom prst="rect">
            <a:avLst/>
          </a:prstGeom>
        </p:spPr>
      </p:pic>
      <p:pic>
        <p:nvPicPr>
          <p:cNvPr id="25" name="Picture 24">
            <a:extLst>
              <a:ext uri="{FF2B5EF4-FFF2-40B4-BE49-F238E27FC236}">
                <a16:creationId xmlns:a16="http://schemas.microsoft.com/office/drawing/2014/main" id="{BFB230BC-F1EA-CB5D-949E-618BF35D2E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10923" y="3283974"/>
            <a:ext cx="1038071" cy="1022556"/>
          </a:xfrm>
          <a:prstGeom prst="rect">
            <a:avLst/>
          </a:prstGeom>
        </p:spPr>
      </p:pic>
      <p:sp>
        <p:nvSpPr>
          <p:cNvPr id="26" name="TextBox 25">
            <a:extLst>
              <a:ext uri="{FF2B5EF4-FFF2-40B4-BE49-F238E27FC236}">
                <a16:creationId xmlns:a16="http://schemas.microsoft.com/office/drawing/2014/main" id="{272F9E31-568F-2C6A-650B-370D4DD270DF}"/>
              </a:ext>
            </a:extLst>
          </p:cNvPr>
          <p:cNvSpPr txBox="1"/>
          <p:nvPr/>
        </p:nvSpPr>
        <p:spPr>
          <a:xfrm>
            <a:off x="722669" y="4156275"/>
            <a:ext cx="8981770" cy="830997"/>
          </a:xfrm>
          <a:prstGeom prst="rect">
            <a:avLst/>
          </a:prstGeom>
          <a:noFill/>
        </p:spPr>
        <p:txBody>
          <a:bodyPr wrap="square">
            <a:spAutoFit/>
          </a:bodyPr>
          <a:lstStyle/>
          <a:p>
            <a:r>
              <a:rPr lang="en-US" sz="2400" b="1" dirty="0">
                <a:latin typeface="Berlin Sans FB Demi" panose="020E0802020502020306" pitchFamily="34" charset="0"/>
              </a:rPr>
              <a:t>Database Integration :</a:t>
            </a:r>
            <a:r>
              <a:rPr lang="en-US" dirty="0">
                <a:latin typeface="Berlin Sans FB Demi" panose="020E0802020502020306" pitchFamily="34" charset="0"/>
              </a:rPr>
              <a:t>For connecting and interacting with databases:</a:t>
            </a:r>
          </a:p>
          <a:p>
            <a:endParaRPr lang="en-US" sz="2400" b="1" dirty="0">
              <a:latin typeface="Berlin Sans FB Demi" panose="020E0802020502020306" pitchFamily="34" charset="0"/>
            </a:endParaRPr>
          </a:p>
        </p:txBody>
      </p:sp>
      <p:pic>
        <p:nvPicPr>
          <p:cNvPr id="32" name="Picture 31">
            <a:extLst>
              <a:ext uri="{FF2B5EF4-FFF2-40B4-BE49-F238E27FC236}">
                <a16:creationId xmlns:a16="http://schemas.microsoft.com/office/drawing/2014/main" id="{0F84443B-102D-D212-C74B-E08FD0D7632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0829" y="4629355"/>
            <a:ext cx="1216126" cy="747876"/>
          </a:xfrm>
          <a:prstGeom prst="rect">
            <a:avLst/>
          </a:prstGeom>
        </p:spPr>
      </p:pic>
      <p:sp>
        <p:nvSpPr>
          <p:cNvPr id="33" name="TextBox 32">
            <a:extLst>
              <a:ext uri="{FF2B5EF4-FFF2-40B4-BE49-F238E27FC236}">
                <a16:creationId xmlns:a16="http://schemas.microsoft.com/office/drawing/2014/main" id="{95AA3975-68FF-7BF0-CF82-178F35328B23}"/>
              </a:ext>
            </a:extLst>
          </p:cNvPr>
          <p:cNvSpPr txBox="1"/>
          <p:nvPr/>
        </p:nvSpPr>
        <p:spPr>
          <a:xfrm>
            <a:off x="1848465" y="4572000"/>
            <a:ext cx="6864764" cy="1046440"/>
          </a:xfrm>
          <a:prstGeom prst="rect">
            <a:avLst/>
          </a:prstGeom>
          <a:noFill/>
        </p:spPr>
        <p:txBody>
          <a:bodyPr wrap="none" rtlCol="0">
            <a:spAutoFit/>
          </a:bodyPr>
          <a:lstStyle/>
          <a:p>
            <a:r>
              <a:rPr lang="en-US" sz="2400" b="1" dirty="0" err="1">
                <a:latin typeface="Berlin Sans FB Demi" panose="020E0802020502020306" pitchFamily="34" charset="0"/>
              </a:rPr>
              <a:t>SQLAlchemy</a:t>
            </a:r>
            <a:r>
              <a:rPr lang="en-US" dirty="0"/>
              <a:t>  </a:t>
            </a:r>
          </a:p>
          <a:p>
            <a:r>
              <a:rPr lang="en-US" sz="2000" dirty="0">
                <a:latin typeface="Goudy Old Style" panose="02020502050305020303" pitchFamily="18" charset="0"/>
              </a:rPr>
              <a:t>We used it to manage database connections and queries efficiently.</a:t>
            </a:r>
          </a:p>
          <a:p>
            <a:endParaRPr lang="en-US" dirty="0"/>
          </a:p>
        </p:txBody>
      </p:sp>
      <p:cxnSp>
        <p:nvCxnSpPr>
          <p:cNvPr id="35" name="Straight Connector 34">
            <a:extLst>
              <a:ext uri="{FF2B5EF4-FFF2-40B4-BE49-F238E27FC236}">
                <a16:creationId xmlns:a16="http://schemas.microsoft.com/office/drawing/2014/main" id="{BD4FB681-F73D-9D2B-3D8D-F096F9EA46A4}"/>
              </a:ext>
            </a:extLst>
          </p:cNvPr>
          <p:cNvCxnSpPr/>
          <p:nvPr/>
        </p:nvCxnSpPr>
        <p:spPr>
          <a:xfrm>
            <a:off x="11307097" y="4581832"/>
            <a:ext cx="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B6C2A82-A75B-A960-E6BF-120EBEB131EB}"/>
              </a:ext>
            </a:extLst>
          </p:cNvPr>
          <p:cNvCxnSpPr>
            <a:cxnSpLocks/>
          </p:cNvCxnSpPr>
          <p:nvPr/>
        </p:nvCxnSpPr>
        <p:spPr>
          <a:xfrm>
            <a:off x="781662" y="4620935"/>
            <a:ext cx="10751576" cy="226"/>
          </a:xfrm>
          <a:prstGeom prst="line">
            <a:avLst/>
          </a:prstGeom>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2E24DC4A-A7DC-7530-8ACB-C8862084656B}"/>
              </a:ext>
            </a:extLst>
          </p:cNvPr>
          <p:cNvSpPr txBox="1"/>
          <p:nvPr/>
        </p:nvSpPr>
        <p:spPr>
          <a:xfrm>
            <a:off x="678426" y="5378244"/>
            <a:ext cx="10200228" cy="830997"/>
          </a:xfrm>
          <a:prstGeom prst="rect">
            <a:avLst/>
          </a:prstGeom>
          <a:noFill/>
        </p:spPr>
        <p:txBody>
          <a:bodyPr wrap="none" rtlCol="0">
            <a:spAutoFit/>
          </a:bodyPr>
          <a:lstStyle/>
          <a:p>
            <a:r>
              <a:rPr lang="en-US" sz="2400" dirty="0">
                <a:latin typeface="Berlin Sans FB Demi" panose="020E0802020502020306" pitchFamily="34" charset="0"/>
              </a:rPr>
              <a:t>Visualization &amp; Data Interaction :</a:t>
            </a:r>
            <a:r>
              <a:rPr lang="en-US" dirty="0">
                <a:latin typeface="Berlin Sans FB Demi" panose="020E0802020502020306" pitchFamily="34" charset="0"/>
              </a:rPr>
              <a:t>To improve the understanding of database structures</a:t>
            </a:r>
          </a:p>
          <a:p>
            <a:endParaRPr lang="en-US" sz="2400" dirty="0">
              <a:latin typeface="Berlin Sans FB Demi" panose="020E0802020502020306" pitchFamily="34" charset="0"/>
            </a:endParaRPr>
          </a:p>
        </p:txBody>
      </p:sp>
      <p:cxnSp>
        <p:nvCxnSpPr>
          <p:cNvPr id="43" name="Straight Connector 42">
            <a:extLst>
              <a:ext uri="{FF2B5EF4-FFF2-40B4-BE49-F238E27FC236}">
                <a16:creationId xmlns:a16="http://schemas.microsoft.com/office/drawing/2014/main" id="{EC0B56A2-A23E-D695-733C-D9FD0DFBFC46}"/>
              </a:ext>
            </a:extLst>
          </p:cNvPr>
          <p:cNvCxnSpPr/>
          <p:nvPr/>
        </p:nvCxnSpPr>
        <p:spPr>
          <a:xfrm>
            <a:off x="747252" y="5830529"/>
            <a:ext cx="10707329" cy="0"/>
          </a:xfrm>
          <a:prstGeom prst="line">
            <a:avLst/>
          </a:prstGeom>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41544F25-E526-4B8B-42DB-D2B92F3DA2B8}"/>
              </a:ext>
            </a:extLst>
          </p:cNvPr>
          <p:cNvSpPr txBox="1"/>
          <p:nvPr/>
        </p:nvSpPr>
        <p:spPr>
          <a:xfrm>
            <a:off x="707922" y="5860026"/>
            <a:ext cx="7722307" cy="677108"/>
          </a:xfrm>
          <a:prstGeom prst="rect">
            <a:avLst/>
          </a:prstGeom>
          <a:noFill/>
        </p:spPr>
        <p:txBody>
          <a:bodyPr wrap="none" rtlCol="0">
            <a:spAutoFit/>
          </a:bodyPr>
          <a:lstStyle/>
          <a:p>
            <a:r>
              <a:rPr lang="en-US" sz="2000" dirty="0">
                <a:latin typeface="Goudy Old Style" panose="02020502050305020303" pitchFamily="18" charset="0"/>
              </a:rPr>
              <a:t>Interactive table views and dynamic UI components built within </a:t>
            </a:r>
            <a:r>
              <a:rPr lang="en-US" sz="2000" dirty="0" err="1">
                <a:latin typeface="Goudy Old Style" panose="02020502050305020303" pitchFamily="18" charset="0"/>
              </a:rPr>
              <a:t>Streamlit</a:t>
            </a:r>
            <a:r>
              <a:rPr lang="en-US" sz="2000" dirty="0">
                <a:latin typeface="Goudy Old Style" panose="02020502050305020303" pitchFamily="18" charset="0"/>
              </a:rPr>
              <a:t>.</a:t>
            </a:r>
          </a:p>
          <a:p>
            <a:endParaRPr lang="en-US" dirty="0"/>
          </a:p>
        </p:txBody>
      </p:sp>
    </p:spTree>
    <p:extLst>
      <p:ext uri="{BB962C8B-B14F-4D97-AF65-F5344CB8AC3E}">
        <p14:creationId xmlns:p14="http://schemas.microsoft.com/office/powerpoint/2010/main" val="3510253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794DB-63F7-BD78-A4CE-2C38AAB42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B2FA0-5500-C1DC-71F8-304B412B40D2}"/>
              </a:ext>
            </a:extLst>
          </p:cNvPr>
          <p:cNvSpPr>
            <a:spLocks noGrp="1"/>
          </p:cNvSpPr>
          <p:nvPr>
            <p:ph type="title"/>
          </p:nvPr>
        </p:nvSpPr>
        <p:spPr>
          <a:xfrm>
            <a:off x="609600" y="399898"/>
            <a:ext cx="10972800" cy="1143000"/>
          </a:xfrm>
        </p:spPr>
        <p:txBody>
          <a:bodyPr>
            <a:normAutofit/>
          </a:bodyPr>
          <a:lstStyle/>
          <a:p>
            <a:r>
              <a:rPr lang="en-IN" dirty="0">
                <a:latin typeface="Berlin Sans FB Demi" panose="020E0802020502020306" pitchFamily="34" charset="0"/>
              </a:rPr>
              <a:t>Implementation</a:t>
            </a:r>
            <a:endParaRPr lang="en-IN" dirty="0">
              <a:latin typeface="Berlin Sans FB Demi" panose="020E0802020502020306" pitchFamily="34" charset="0"/>
              <a:ea typeface="Calibri"/>
              <a:cs typeface="Calibri"/>
            </a:endParaRPr>
          </a:p>
        </p:txBody>
      </p:sp>
      <p:sp>
        <p:nvSpPr>
          <p:cNvPr id="5" name="Slide Number Placeholder 4">
            <a:extLst>
              <a:ext uri="{FF2B5EF4-FFF2-40B4-BE49-F238E27FC236}">
                <a16:creationId xmlns:a16="http://schemas.microsoft.com/office/drawing/2014/main" id="{EF1483D5-0B4A-2891-EC46-AB4251F3AD6A}"/>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14" name="TextBox 13">
            <a:extLst>
              <a:ext uri="{FF2B5EF4-FFF2-40B4-BE49-F238E27FC236}">
                <a16:creationId xmlns:a16="http://schemas.microsoft.com/office/drawing/2014/main" id="{F96D7138-2EB4-3783-14F8-A44216FC0F48}"/>
              </a:ext>
            </a:extLst>
          </p:cNvPr>
          <p:cNvSpPr txBox="1"/>
          <p:nvPr/>
        </p:nvSpPr>
        <p:spPr>
          <a:xfrm>
            <a:off x="422788" y="1484669"/>
            <a:ext cx="2576051" cy="2893100"/>
          </a:xfrm>
          <a:prstGeom prst="rect">
            <a:avLst/>
          </a:prstGeom>
          <a:noFill/>
        </p:spPr>
        <p:txBody>
          <a:bodyPr wrap="square" rtlCol="0">
            <a:spAutoFit/>
          </a:bodyPr>
          <a:lstStyle/>
          <a:p>
            <a:pPr algn="just"/>
            <a:r>
              <a:rPr lang="en-US" sz="2000" b="1" dirty="0">
                <a:latin typeface="Goudy Old Style" panose="02020502050305020303" pitchFamily="18" charset="0"/>
              </a:rPr>
              <a:t>Backend Setup</a:t>
            </a:r>
          </a:p>
          <a:p>
            <a:pPr algn="just"/>
            <a:r>
              <a:rPr lang="en-US" dirty="0">
                <a:latin typeface="Goudy Old Style" panose="02020502050305020303" pitchFamily="18" charset="0"/>
              </a:rPr>
              <a:t>We start by building the application using Python and </a:t>
            </a:r>
            <a:r>
              <a:rPr lang="en-US" dirty="0" err="1">
                <a:latin typeface="Goudy Old Style" panose="02020502050305020303" pitchFamily="18" charset="0"/>
              </a:rPr>
              <a:t>Streamlit</a:t>
            </a:r>
            <a:r>
              <a:rPr lang="en-US" dirty="0">
                <a:latin typeface="Goudy Old Style" panose="02020502050305020303" pitchFamily="18" charset="0"/>
              </a:rPr>
              <a:t> to handle the main functionality. Then, we connect the system to databases using </a:t>
            </a:r>
            <a:r>
              <a:rPr lang="en-US" dirty="0" err="1">
                <a:latin typeface="Goudy Old Style" panose="02020502050305020303" pitchFamily="18" charset="0"/>
              </a:rPr>
              <a:t>SQLAlchemy</a:t>
            </a:r>
            <a:r>
              <a:rPr lang="en-US" dirty="0">
                <a:latin typeface="Goudy Old Style" panose="02020502050305020303" pitchFamily="18" charset="0"/>
              </a:rPr>
              <a:t>, so therefore  TableForge can work with real relational databases.</a:t>
            </a:r>
          </a:p>
        </p:txBody>
      </p:sp>
      <p:sp>
        <p:nvSpPr>
          <p:cNvPr id="15" name="TextBox 14">
            <a:extLst>
              <a:ext uri="{FF2B5EF4-FFF2-40B4-BE49-F238E27FC236}">
                <a16:creationId xmlns:a16="http://schemas.microsoft.com/office/drawing/2014/main" id="{59B9B1BE-065A-D289-7334-521380EF0BF8}"/>
              </a:ext>
            </a:extLst>
          </p:cNvPr>
          <p:cNvSpPr txBox="1"/>
          <p:nvPr/>
        </p:nvSpPr>
        <p:spPr>
          <a:xfrm>
            <a:off x="3146320" y="1494502"/>
            <a:ext cx="2762866" cy="2893100"/>
          </a:xfrm>
          <a:prstGeom prst="rect">
            <a:avLst/>
          </a:prstGeom>
          <a:noFill/>
        </p:spPr>
        <p:txBody>
          <a:bodyPr wrap="square" rtlCol="0">
            <a:spAutoFit/>
          </a:bodyPr>
          <a:lstStyle/>
          <a:p>
            <a:pPr algn="just"/>
            <a:r>
              <a:rPr lang="en-US" sz="2000" b="1" dirty="0">
                <a:latin typeface="Goudy Old Style" panose="02020502050305020303" pitchFamily="18" charset="0"/>
              </a:rPr>
              <a:t>Database Integration</a:t>
            </a:r>
          </a:p>
          <a:p>
            <a:pPr algn="just"/>
            <a:r>
              <a:rPr lang="en-US" dirty="0">
                <a:latin typeface="Goudy Old Style" panose="02020502050305020303" pitchFamily="18" charset="0"/>
              </a:rPr>
              <a:t>TableForge support working with real databases like SQLite for the prototype, with planned support for PostgreSQL and MySQL. This allows users to connect their own databases and manage data easily.</a:t>
            </a:r>
          </a:p>
          <a:p>
            <a:endParaRPr lang="en-US" dirty="0"/>
          </a:p>
        </p:txBody>
      </p:sp>
      <p:sp>
        <p:nvSpPr>
          <p:cNvPr id="17" name="TextBox 16">
            <a:extLst>
              <a:ext uri="{FF2B5EF4-FFF2-40B4-BE49-F238E27FC236}">
                <a16:creationId xmlns:a16="http://schemas.microsoft.com/office/drawing/2014/main" id="{CBB18307-C543-0CEF-9706-B4D08A1EF339}"/>
              </a:ext>
            </a:extLst>
          </p:cNvPr>
          <p:cNvSpPr txBox="1"/>
          <p:nvPr/>
        </p:nvSpPr>
        <p:spPr>
          <a:xfrm>
            <a:off x="6096001" y="1524000"/>
            <a:ext cx="2743199" cy="2893100"/>
          </a:xfrm>
          <a:prstGeom prst="rect">
            <a:avLst/>
          </a:prstGeom>
          <a:noFill/>
        </p:spPr>
        <p:txBody>
          <a:bodyPr wrap="square" rtlCol="0">
            <a:spAutoFit/>
          </a:bodyPr>
          <a:lstStyle/>
          <a:p>
            <a:pPr algn="just"/>
            <a:r>
              <a:rPr lang="en-US" sz="2000" b="1" dirty="0">
                <a:latin typeface="Goudy Old Style" panose="02020502050305020303" pitchFamily="18" charset="0"/>
              </a:rPr>
              <a:t>Frontend Interface</a:t>
            </a:r>
          </a:p>
          <a:p>
            <a:pPr algn="just"/>
            <a:r>
              <a:rPr lang="en-US" dirty="0">
                <a:latin typeface="Goudy Old Style" panose="02020502050305020303" pitchFamily="18" charset="0"/>
              </a:rPr>
              <a:t>The UI will be built using </a:t>
            </a:r>
            <a:r>
              <a:rPr lang="en-US" dirty="0" err="1">
                <a:latin typeface="Goudy Old Style" panose="02020502050305020303" pitchFamily="18" charset="0"/>
              </a:rPr>
              <a:t>Streamlit</a:t>
            </a:r>
            <a:r>
              <a:rPr lang="en-US" dirty="0">
                <a:latin typeface="Goudy Old Style" panose="02020502050305020303" pitchFamily="18" charset="0"/>
              </a:rPr>
              <a:t>, along with Vanilla JavaScript and Custom CSS, to create an interactive and visually engaging spreadsheet-style dashboard where users can easily view, explore, and manage their data.</a:t>
            </a:r>
          </a:p>
        </p:txBody>
      </p:sp>
      <p:sp>
        <p:nvSpPr>
          <p:cNvPr id="18" name="TextBox 17">
            <a:extLst>
              <a:ext uri="{FF2B5EF4-FFF2-40B4-BE49-F238E27FC236}">
                <a16:creationId xmlns:a16="http://schemas.microsoft.com/office/drawing/2014/main" id="{E15DFD41-F2FD-CCEF-341C-D91E409A98BD}"/>
              </a:ext>
            </a:extLst>
          </p:cNvPr>
          <p:cNvSpPr txBox="1"/>
          <p:nvPr/>
        </p:nvSpPr>
        <p:spPr>
          <a:xfrm>
            <a:off x="9045677" y="1553497"/>
            <a:ext cx="2762865" cy="2339102"/>
          </a:xfrm>
          <a:prstGeom prst="rect">
            <a:avLst/>
          </a:prstGeom>
          <a:noFill/>
        </p:spPr>
        <p:txBody>
          <a:bodyPr wrap="square" rtlCol="0">
            <a:spAutoFit/>
          </a:bodyPr>
          <a:lstStyle/>
          <a:p>
            <a:pPr algn="just"/>
            <a:r>
              <a:rPr lang="en-US" sz="2000" b="1" dirty="0">
                <a:latin typeface="Goudy Old Style" panose="02020502050305020303" pitchFamily="18" charset="0"/>
              </a:rPr>
              <a:t>Data Sync &amp; Processing</a:t>
            </a:r>
          </a:p>
          <a:p>
            <a:pPr algn="just"/>
            <a:r>
              <a:rPr lang="en-US" dirty="0">
                <a:latin typeface="Goudy Old Style" panose="02020502050305020303" pitchFamily="18" charset="0"/>
              </a:rPr>
              <a:t>Whenever a user edits, filters, or sorts data, the system processes the request and updates the database in real time while ensuring proper data validation.</a:t>
            </a:r>
          </a:p>
          <a:p>
            <a:endParaRPr lang="en-US" dirty="0"/>
          </a:p>
        </p:txBody>
      </p:sp>
      <p:pic>
        <p:nvPicPr>
          <p:cNvPr id="20" name="Picture 19">
            <a:extLst>
              <a:ext uri="{FF2B5EF4-FFF2-40B4-BE49-F238E27FC236}">
                <a16:creationId xmlns:a16="http://schemas.microsoft.com/office/drawing/2014/main" id="{B68DAEB3-A11B-7451-0871-10D51C103B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362" y="4503174"/>
            <a:ext cx="2289336" cy="2172929"/>
          </a:xfrm>
          <a:prstGeom prst="rect">
            <a:avLst/>
          </a:prstGeom>
        </p:spPr>
      </p:pic>
      <p:pic>
        <p:nvPicPr>
          <p:cNvPr id="22" name="Graphic 21">
            <a:extLst>
              <a:ext uri="{FF2B5EF4-FFF2-40B4-BE49-F238E27FC236}">
                <a16:creationId xmlns:a16="http://schemas.microsoft.com/office/drawing/2014/main" id="{00799EFD-AD5C-0999-85F6-F28C80F5E1C2}"/>
              </a:ext>
            </a:extLst>
          </p:cNvPr>
          <p:cNvPicPr>
            <a:picLocks noChangeAspect="1"/>
          </p:cNvPicPr>
          <p:nvPr/>
        </p:nvPicPr>
        <p:blipFill>
          <a:blip r:embed="rId3">
            <a:extLst>
              <a:ext uri="{96DAC541-7B7A-43D3-8B79-37D633B846F1}">
                <asvg:svgBlip xmlns:asvg="http://schemas.microsoft.com/office/drawing/2016/SVG/main" r:embed="rId4"/>
              </a:ext>
            </a:extLst>
          </a:blip>
          <a:srcRect t="9477" r="12777" b="1"/>
          <a:stretch>
            <a:fillRect/>
          </a:stretch>
        </p:blipFill>
        <p:spPr>
          <a:xfrm>
            <a:off x="3070123" y="4571999"/>
            <a:ext cx="2416277" cy="2066053"/>
          </a:xfrm>
          <a:prstGeom prst="rect">
            <a:avLst/>
          </a:prstGeom>
        </p:spPr>
      </p:pic>
      <p:pic>
        <p:nvPicPr>
          <p:cNvPr id="24" name="Picture 23">
            <a:extLst>
              <a:ext uri="{FF2B5EF4-FFF2-40B4-BE49-F238E27FC236}">
                <a16:creationId xmlns:a16="http://schemas.microsoft.com/office/drawing/2014/main" id="{947C42BE-26C8-59C8-CC7F-BB0E1F07F45E}"/>
              </a:ext>
            </a:extLst>
          </p:cNvPr>
          <p:cNvPicPr>
            <a:picLocks noChangeAspect="1"/>
          </p:cNvPicPr>
          <p:nvPr/>
        </p:nvPicPr>
        <p:blipFill>
          <a:blip r:embed="rId5">
            <a:extLst>
              <a:ext uri="{28A0092B-C50C-407E-A947-70E740481C1C}">
                <a14:useLocalDpi xmlns:a14="http://schemas.microsoft.com/office/drawing/2010/main" val="0"/>
              </a:ext>
            </a:extLst>
          </a:blip>
          <a:srcRect b="7451"/>
          <a:stretch>
            <a:fillRect/>
          </a:stretch>
        </p:blipFill>
        <p:spPr>
          <a:xfrm>
            <a:off x="6034137" y="4396042"/>
            <a:ext cx="2814896" cy="2001729"/>
          </a:xfrm>
          <a:prstGeom prst="rect">
            <a:avLst/>
          </a:prstGeom>
        </p:spPr>
      </p:pic>
      <p:pic>
        <p:nvPicPr>
          <p:cNvPr id="26" name="Picture 25">
            <a:extLst>
              <a:ext uri="{FF2B5EF4-FFF2-40B4-BE49-F238E27FC236}">
                <a16:creationId xmlns:a16="http://schemas.microsoft.com/office/drawing/2014/main" id="{817213C8-9C7C-8822-26EF-299EB79180E2}"/>
              </a:ext>
            </a:extLst>
          </p:cNvPr>
          <p:cNvPicPr>
            <a:picLocks noChangeAspect="1"/>
          </p:cNvPicPr>
          <p:nvPr/>
        </p:nvPicPr>
        <p:blipFill>
          <a:blip r:embed="rId6">
            <a:extLst>
              <a:ext uri="{28A0092B-C50C-407E-A947-70E740481C1C}">
                <a14:useLocalDpi xmlns:a14="http://schemas.microsoft.com/office/drawing/2010/main" val="0"/>
              </a:ext>
            </a:extLst>
          </a:blip>
          <a:srcRect l="24108" r="24279"/>
          <a:stretch>
            <a:fillRect/>
          </a:stretch>
        </p:blipFill>
        <p:spPr>
          <a:xfrm>
            <a:off x="9566788" y="4459543"/>
            <a:ext cx="1846656" cy="187243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152631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12031-1777-DF77-5F41-9A6C97055A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2D1B49-7541-36A7-06DC-0CCE78C9C762}"/>
              </a:ext>
            </a:extLst>
          </p:cNvPr>
          <p:cNvSpPr>
            <a:spLocks noGrp="1"/>
          </p:cNvSpPr>
          <p:nvPr>
            <p:ph type="title"/>
          </p:nvPr>
        </p:nvSpPr>
        <p:spPr>
          <a:xfrm>
            <a:off x="609600" y="399898"/>
            <a:ext cx="10972800" cy="1143000"/>
          </a:xfrm>
        </p:spPr>
        <p:txBody>
          <a:bodyPr>
            <a:normAutofit/>
          </a:bodyPr>
          <a:lstStyle/>
          <a:p>
            <a:r>
              <a:rPr lang="en-IN" dirty="0">
                <a:latin typeface="Berlin Sans FB Demi" panose="020E0802020502020306" pitchFamily="34" charset="0"/>
              </a:rPr>
              <a:t>Diagrams</a:t>
            </a:r>
            <a:endParaRPr lang="en-IN" dirty="0">
              <a:latin typeface="Berlin Sans FB Demi" panose="020E0802020502020306" pitchFamily="34" charset="0"/>
              <a:ea typeface="Calibri"/>
              <a:cs typeface="Calibri"/>
            </a:endParaRPr>
          </a:p>
        </p:txBody>
      </p:sp>
      <p:sp>
        <p:nvSpPr>
          <p:cNvPr id="5" name="Slide Number Placeholder 4">
            <a:extLst>
              <a:ext uri="{FF2B5EF4-FFF2-40B4-BE49-F238E27FC236}">
                <a16:creationId xmlns:a16="http://schemas.microsoft.com/office/drawing/2014/main" id="{D906BF47-85CB-0DCC-7C85-30F18E81FA06}"/>
              </a:ext>
            </a:extLst>
          </p:cNvPr>
          <p:cNvSpPr>
            <a:spLocks noGrp="1"/>
          </p:cNvSpPr>
          <p:nvPr>
            <p:ph type="sldNum" sz="quarter" idx="12"/>
          </p:nvPr>
        </p:nvSpPr>
        <p:spPr/>
        <p:txBody>
          <a:bodyPr/>
          <a:lstStyle/>
          <a:p>
            <a:fld id="{C1FF6DA9-008F-8B48-92A6-B652298478BF}" type="slidenum">
              <a:rPr lang="en-US" smtClean="0"/>
              <a:t>7</a:t>
            </a:fld>
            <a:endParaRPr lang="en-US"/>
          </a:p>
        </p:txBody>
      </p:sp>
      <p:pic>
        <p:nvPicPr>
          <p:cNvPr id="4" name="Picture 3">
            <a:extLst>
              <a:ext uri="{FF2B5EF4-FFF2-40B4-BE49-F238E27FC236}">
                <a16:creationId xmlns:a16="http://schemas.microsoft.com/office/drawing/2014/main" id="{C3D68018-0C52-19D2-A053-F91C36B65482}"/>
              </a:ext>
            </a:extLst>
          </p:cNvPr>
          <p:cNvPicPr>
            <a:picLocks noChangeAspect="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b="48969"/>
          <a:stretch>
            <a:fillRect/>
          </a:stretch>
        </p:blipFill>
        <p:spPr>
          <a:xfrm>
            <a:off x="752046" y="615663"/>
            <a:ext cx="6723927" cy="6082804"/>
          </a:xfrm>
          <a:prstGeom prst="rect">
            <a:avLst/>
          </a:prstGeom>
        </p:spPr>
      </p:pic>
      <p:pic>
        <p:nvPicPr>
          <p:cNvPr id="8" name="Picture 7">
            <a:extLst>
              <a:ext uri="{FF2B5EF4-FFF2-40B4-BE49-F238E27FC236}">
                <a16:creationId xmlns:a16="http://schemas.microsoft.com/office/drawing/2014/main" id="{6A30139E-3EDB-5BEC-1B5C-30BC2A21BC6C}"/>
              </a:ext>
            </a:extLst>
          </p:cNvPr>
          <p:cNvPicPr>
            <a:picLocks noChangeAspect="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t="51124" b="2884"/>
          <a:stretch>
            <a:fillRect/>
          </a:stretch>
        </p:blipFill>
        <p:spPr>
          <a:xfrm>
            <a:off x="5614475" y="612123"/>
            <a:ext cx="5919073" cy="6245877"/>
          </a:xfrm>
          <a:prstGeom prst="rect">
            <a:avLst/>
          </a:prstGeom>
        </p:spPr>
      </p:pic>
      <p:cxnSp>
        <p:nvCxnSpPr>
          <p:cNvPr id="10" name="Straight Connector 9">
            <a:extLst>
              <a:ext uri="{FF2B5EF4-FFF2-40B4-BE49-F238E27FC236}">
                <a16:creationId xmlns:a16="http://schemas.microsoft.com/office/drawing/2014/main" id="{A1B8CB2A-D9ED-4CAC-3B10-0AD88AC6E226}"/>
              </a:ext>
            </a:extLst>
          </p:cNvPr>
          <p:cNvCxnSpPr/>
          <p:nvPr/>
        </p:nvCxnSpPr>
        <p:spPr>
          <a:xfrm>
            <a:off x="3687745" y="6692202"/>
            <a:ext cx="0" cy="165798"/>
          </a:xfrm>
          <a:prstGeom prst="line">
            <a:avLst/>
          </a:prstGeom>
          <a:ln>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07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9EC44E-282D-6A47-FE4E-C0B9E9BBF157}"/>
              </a:ext>
            </a:extLst>
          </p:cNvPr>
          <p:cNvSpPr>
            <a:spLocks noGrp="1"/>
          </p:cNvSpPr>
          <p:nvPr>
            <p:ph type="sldNum" sz="quarter" idx="12"/>
          </p:nvPr>
        </p:nvSpPr>
        <p:spPr/>
        <p:txBody>
          <a:bodyPr/>
          <a:lstStyle/>
          <a:p>
            <a:fld id="{559F7207-EB19-4894-A3BE-9E4E729432A3}" type="slidenum">
              <a:rPr lang="en-IN" smtClean="0"/>
              <a:t>8</a:t>
            </a:fld>
            <a:endParaRPr lang="en-IN"/>
          </a:p>
        </p:txBody>
      </p:sp>
      <p:pic>
        <p:nvPicPr>
          <p:cNvPr id="6" name="Picture 5">
            <a:extLst>
              <a:ext uri="{FF2B5EF4-FFF2-40B4-BE49-F238E27FC236}">
                <a16:creationId xmlns:a16="http://schemas.microsoft.com/office/drawing/2014/main" id="{3D942138-38FE-73D9-CAC0-F77DF9B401D9}"/>
              </a:ext>
            </a:extLst>
          </p:cNvPr>
          <p:cNvPicPr>
            <a:picLocks noChangeAspect="1"/>
          </p:cNvPicPr>
          <p:nvPr/>
        </p:nvPicPr>
        <p:blipFill>
          <a:blip r:embed="rId2">
            <a:extLst>
              <a:ext uri="{28A0092B-C50C-407E-A947-70E740481C1C}">
                <a14:useLocalDpi xmlns:a14="http://schemas.microsoft.com/office/drawing/2010/main" val="0"/>
              </a:ext>
            </a:extLst>
          </a:blip>
          <a:srcRect b="6176"/>
          <a:stretch>
            <a:fillRect/>
          </a:stretch>
        </p:blipFill>
        <p:spPr>
          <a:xfrm>
            <a:off x="2245441" y="244701"/>
            <a:ext cx="2523203" cy="6269169"/>
          </a:xfrm>
          <a:prstGeom prst="rect">
            <a:avLst/>
          </a:prstGeom>
        </p:spPr>
      </p:pic>
      <p:sp>
        <p:nvSpPr>
          <p:cNvPr id="7" name="TextBox 6">
            <a:extLst>
              <a:ext uri="{FF2B5EF4-FFF2-40B4-BE49-F238E27FC236}">
                <a16:creationId xmlns:a16="http://schemas.microsoft.com/office/drawing/2014/main" id="{D8BEAFA5-528F-BED4-A893-05407893FB88}"/>
              </a:ext>
            </a:extLst>
          </p:cNvPr>
          <p:cNvSpPr txBox="1"/>
          <p:nvPr/>
        </p:nvSpPr>
        <p:spPr>
          <a:xfrm>
            <a:off x="363794" y="1209368"/>
            <a:ext cx="2549096" cy="646331"/>
          </a:xfrm>
          <a:prstGeom prst="rect">
            <a:avLst/>
          </a:prstGeom>
          <a:noFill/>
        </p:spPr>
        <p:txBody>
          <a:bodyPr wrap="none" rtlCol="0">
            <a:spAutoFit/>
          </a:bodyPr>
          <a:lstStyle/>
          <a:p>
            <a:r>
              <a:rPr lang="en-US" b="1" dirty="0">
                <a:latin typeface="Berlin Sans FB Demi" panose="020E0802020502020306" pitchFamily="34" charset="0"/>
              </a:rPr>
              <a:t>Our technical </a:t>
            </a:r>
          </a:p>
          <a:p>
            <a:r>
              <a:rPr lang="en-US" b="1" dirty="0">
                <a:latin typeface="Berlin Sans FB Demi" panose="020E0802020502020306" pitchFamily="34" charset="0"/>
              </a:rPr>
              <a:t>architecture diagram :</a:t>
            </a:r>
            <a:r>
              <a:rPr lang="en-US" dirty="0">
                <a:latin typeface="Berlin Sans FB Demi" panose="020E0802020502020306" pitchFamily="34" charset="0"/>
              </a:rPr>
              <a:t> </a:t>
            </a:r>
          </a:p>
        </p:txBody>
      </p:sp>
      <p:pic>
        <p:nvPicPr>
          <p:cNvPr id="13" name="Picture 12">
            <a:extLst>
              <a:ext uri="{FF2B5EF4-FFF2-40B4-BE49-F238E27FC236}">
                <a16:creationId xmlns:a16="http://schemas.microsoft.com/office/drawing/2014/main" id="{AA0466A3-E73B-7F79-EC9C-E83092B21FA2}"/>
              </a:ext>
            </a:extLst>
          </p:cNvPr>
          <p:cNvPicPr>
            <a:picLocks noChangeAspect="1"/>
          </p:cNvPicPr>
          <p:nvPr/>
        </p:nvPicPr>
        <p:blipFill>
          <a:blip r:embed="rId3">
            <a:extLst>
              <a:ext uri="{28A0092B-C50C-407E-A947-70E740481C1C}">
                <a14:useLocalDpi xmlns:a14="http://schemas.microsoft.com/office/drawing/2010/main" val="0"/>
              </a:ext>
            </a:extLst>
          </a:blip>
          <a:srcRect b="10881"/>
          <a:stretch>
            <a:fillRect/>
          </a:stretch>
        </p:blipFill>
        <p:spPr>
          <a:xfrm>
            <a:off x="4890319" y="1353163"/>
            <a:ext cx="6934200" cy="4821494"/>
          </a:xfrm>
          <a:prstGeom prst="rect">
            <a:avLst/>
          </a:prstGeom>
        </p:spPr>
      </p:pic>
      <p:sp>
        <p:nvSpPr>
          <p:cNvPr id="14" name="TextBox 13">
            <a:extLst>
              <a:ext uri="{FF2B5EF4-FFF2-40B4-BE49-F238E27FC236}">
                <a16:creationId xmlns:a16="http://schemas.microsoft.com/office/drawing/2014/main" id="{40709174-CE9D-E6D7-5553-2452C9ACE527}"/>
              </a:ext>
            </a:extLst>
          </p:cNvPr>
          <p:cNvSpPr txBox="1"/>
          <p:nvPr/>
        </p:nvSpPr>
        <p:spPr>
          <a:xfrm>
            <a:off x="5211097" y="1209367"/>
            <a:ext cx="3228769" cy="369332"/>
          </a:xfrm>
          <a:prstGeom prst="rect">
            <a:avLst/>
          </a:prstGeom>
          <a:noFill/>
        </p:spPr>
        <p:txBody>
          <a:bodyPr wrap="none" rtlCol="0">
            <a:spAutoFit/>
          </a:bodyPr>
          <a:lstStyle/>
          <a:p>
            <a:r>
              <a:rPr lang="en-US" dirty="0">
                <a:latin typeface="Berlin Sans FB Demi" panose="020E0802020502020306" pitchFamily="34" charset="0"/>
              </a:rPr>
              <a:t>Our Database schema design:</a:t>
            </a:r>
          </a:p>
        </p:txBody>
      </p:sp>
    </p:spTree>
    <p:extLst>
      <p:ext uri="{BB962C8B-B14F-4D97-AF65-F5344CB8AC3E}">
        <p14:creationId xmlns:p14="http://schemas.microsoft.com/office/powerpoint/2010/main" val="610529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667</TotalTime>
  <Words>623</Words>
  <Application>Microsoft Office PowerPoint</Application>
  <PresentationFormat>Widescreen</PresentationFormat>
  <Paragraphs>63</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Berlin Sans FB Demi</vt:lpstr>
      <vt:lpstr>Goudy Old Style</vt:lpstr>
      <vt:lpstr>Office Theme</vt:lpstr>
      <vt:lpstr>TABLEFORGE</vt:lpstr>
      <vt:lpstr>Problem Statement</vt:lpstr>
      <vt:lpstr>Solution Overview</vt:lpstr>
      <vt:lpstr>Tech Stack</vt:lpstr>
      <vt:lpstr>PowerPoint Presentation</vt:lpstr>
      <vt:lpstr>Implementation</vt:lpstr>
      <vt:lpstr>Diagrams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Lakshyajeet Jalal</dc:creator>
  <cp:lastModifiedBy>dishi rautela</cp:lastModifiedBy>
  <cp:revision>10</cp:revision>
  <dcterms:created xsi:type="dcterms:W3CDTF">2026-03-14T12:24:06Z</dcterms:created>
  <dcterms:modified xsi:type="dcterms:W3CDTF">2026-03-22T06:31:57Z</dcterms:modified>
</cp:coreProperties>
</file>